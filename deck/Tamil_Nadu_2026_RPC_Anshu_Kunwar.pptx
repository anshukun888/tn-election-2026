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Quattrocento Bold" charset="1" panose="02020802030000000404"/>
      <p:regular r:id="rId16"/>
    </p:embeddedFont>
    <p:embeddedFont>
      <p:font typeface="Quattrocento" charset="1" panose="020205020300000004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4">
                <a:alpha val="100000"/>
              </a:srgbClr>
            </a:gs>
            <a:gs pos="50000">
              <a:srgbClr val="141B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8" cy="28565"/>
            <a:chOff x="0" y="0"/>
            <a:chExt cx="24379238" cy="380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38100"/>
            </a:xfrm>
            <a:custGeom>
              <a:avLst/>
              <a:gdLst/>
              <a:ahLst/>
              <a:cxnLst/>
              <a:rect r="r" b="b" t="t" l="l"/>
              <a:pathLst>
                <a:path h="38100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>
                <a:alpha val="1569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2781" y="2856938"/>
            <a:ext cx="11427771" cy="999925"/>
            <a:chOff x="0" y="0"/>
            <a:chExt cx="15237028" cy="13332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37023" cy="1333240"/>
            </a:xfrm>
            <a:custGeom>
              <a:avLst/>
              <a:gdLst/>
              <a:ahLst/>
              <a:cxnLst/>
              <a:rect r="r" b="b" t="t" l="l"/>
              <a:pathLst>
                <a:path h="1333240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5237028" cy="134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88"/>
                </a:lnSpc>
              </a:pPr>
              <a:r>
                <a:rPr lang="en-US" sz="6073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Decoding Tamil Nadu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2781" y="3999719"/>
            <a:ext cx="9999297" cy="457114"/>
            <a:chOff x="0" y="0"/>
            <a:chExt cx="13332396" cy="6094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32396" cy="609481"/>
            </a:xfrm>
            <a:custGeom>
              <a:avLst/>
              <a:gdLst/>
              <a:ahLst/>
              <a:cxnLst/>
              <a:rect r="r" b="b" t="t" l="l"/>
              <a:pathLst>
                <a:path h="609481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609481"/>
                  </a:lnTo>
                  <a:lnTo>
                    <a:pt x="0" y="609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234" r="0" b="-3762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3332396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4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 Data-Driven Story Pitch for AtliQ Media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5637" y="4849663"/>
            <a:ext cx="5442471" cy="471392"/>
            <a:chOff x="0" y="0"/>
            <a:chExt cx="7256628" cy="6285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525" y="9525"/>
              <a:ext cx="7237603" cy="609473"/>
            </a:xfrm>
            <a:custGeom>
              <a:avLst/>
              <a:gdLst/>
              <a:ahLst/>
              <a:cxnLst/>
              <a:rect r="r" b="b" t="t" l="l"/>
              <a:pathLst>
                <a:path h="609473" w="7237603">
                  <a:moveTo>
                    <a:pt x="0" y="97536"/>
                  </a:moveTo>
                  <a:cubicBezTo>
                    <a:pt x="0" y="43688"/>
                    <a:pt x="44958" y="0"/>
                    <a:pt x="100330" y="0"/>
                  </a:cubicBezTo>
                  <a:lnTo>
                    <a:pt x="7137273" y="0"/>
                  </a:lnTo>
                  <a:cubicBezTo>
                    <a:pt x="7192645" y="0"/>
                    <a:pt x="7237603" y="43688"/>
                    <a:pt x="7237603" y="97536"/>
                  </a:cubicBezTo>
                  <a:lnTo>
                    <a:pt x="7237603" y="511937"/>
                  </a:lnTo>
                  <a:cubicBezTo>
                    <a:pt x="7237603" y="565785"/>
                    <a:pt x="7192645" y="609473"/>
                    <a:pt x="7137273" y="609473"/>
                  </a:cubicBezTo>
                  <a:lnTo>
                    <a:pt x="100330" y="609473"/>
                  </a:lnTo>
                  <a:cubicBezTo>
                    <a:pt x="44958" y="609473"/>
                    <a:pt x="0" y="565785"/>
                    <a:pt x="0" y="511937"/>
                  </a:cubicBezTo>
                  <a:close/>
                </a:path>
              </a:pathLst>
            </a:custGeom>
            <a:solidFill>
              <a:srgbClr val="E87722">
                <a:alpha val="156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56653" cy="628523"/>
            </a:xfrm>
            <a:custGeom>
              <a:avLst/>
              <a:gdLst/>
              <a:ahLst/>
              <a:cxnLst/>
              <a:rect r="r" b="b" t="t" l="l"/>
              <a:pathLst>
                <a:path h="628523" w="7256653">
                  <a:moveTo>
                    <a:pt x="0" y="107061"/>
                  </a:moveTo>
                  <a:cubicBezTo>
                    <a:pt x="0" y="47625"/>
                    <a:pt x="49403" y="0"/>
                    <a:pt x="109855" y="0"/>
                  </a:cubicBezTo>
                  <a:lnTo>
                    <a:pt x="7146798" y="0"/>
                  </a:lnTo>
                  <a:lnTo>
                    <a:pt x="7146798" y="9525"/>
                  </a:lnTo>
                  <a:lnTo>
                    <a:pt x="7146798" y="0"/>
                  </a:lnTo>
                  <a:cubicBezTo>
                    <a:pt x="7207250" y="0"/>
                    <a:pt x="7256653" y="47625"/>
                    <a:pt x="7256653" y="107061"/>
                  </a:cubicBezTo>
                  <a:lnTo>
                    <a:pt x="7247128" y="107061"/>
                  </a:lnTo>
                  <a:lnTo>
                    <a:pt x="7256653" y="107061"/>
                  </a:lnTo>
                  <a:lnTo>
                    <a:pt x="7256653" y="521462"/>
                  </a:lnTo>
                  <a:lnTo>
                    <a:pt x="7247128" y="521462"/>
                  </a:lnTo>
                  <a:lnTo>
                    <a:pt x="7256653" y="521462"/>
                  </a:lnTo>
                  <a:cubicBezTo>
                    <a:pt x="7256653" y="580771"/>
                    <a:pt x="7207250" y="628523"/>
                    <a:pt x="7146798" y="628523"/>
                  </a:cubicBezTo>
                  <a:lnTo>
                    <a:pt x="7146798" y="618998"/>
                  </a:lnTo>
                  <a:lnTo>
                    <a:pt x="7146798" y="628523"/>
                  </a:lnTo>
                  <a:lnTo>
                    <a:pt x="109855" y="628523"/>
                  </a:lnTo>
                  <a:lnTo>
                    <a:pt x="109855" y="618998"/>
                  </a:lnTo>
                  <a:lnTo>
                    <a:pt x="109855" y="628523"/>
                  </a:lnTo>
                  <a:cubicBezTo>
                    <a:pt x="49403" y="628523"/>
                    <a:pt x="0" y="580898"/>
                    <a:pt x="0" y="521462"/>
                  </a:cubicBezTo>
                  <a:lnTo>
                    <a:pt x="0" y="107061"/>
                  </a:lnTo>
                  <a:lnTo>
                    <a:pt x="9525" y="107061"/>
                  </a:lnTo>
                  <a:lnTo>
                    <a:pt x="0" y="107061"/>
                  </a:lnTo>
                  <a:moveTo>
                    <a:pt x="19050" y="107061"/>
                  </a:moveTo>
                  <a:lnTo>
                    <a:pt x="19050" y="521462"/>
                  </a:lnTo>
                  <a:lnTo>
                    <a:pt x="9525" y="521462"/>
                  </a:lnTo>
                  <a:lnTo>
                    <a:pt x="19050" y="521462"/>
                  </a:lnTo>
                  <a:cubicBezTo>
                    <a:pt x="19050" y="569849"/>
                    <a:pt x="59436" y="609473"/>
                    <a:pt x="109855" y="609473"/>
                  </a:cubicBezTo>
                  <a:lnTo>
                    <a:pt x="7146798" y="609473"/>
                  </a:lnTo>
                  <a:cubicBezTo>
                    <a:pt x="7197217" y="609473"/>
                    <a:pt x="7237603" y="569849"/>
                    <a:pt x="7237603" y="521462"/>
                  </a:cubicBezTo>
                  <a:lnTo>
                    <a:pt x="7237603" y="107061"/>
                  </a:lnTo>
                  <a:cubicBezTo>
                    <a:pt x="7237603" y="58674"/>
                    <a:pt x="7197217" y="19050"/>
                    <a:pt x="7146798" y="19050"/>
                  </a:cubicBezTo>
                  <a:lnTo>
                    <a:pt x="109855" y="19050"/>
                  </a:lnTo>
                  <a:lnTo>
                    <a:pt x="109855" y="9525"/>
                  </a:lnTo>
                  <a:lnTo>
                    <a:pt x="109855" y="19050"/>
                  </a:lnTo>
                  <a:cubicBezTo>
                    <a:pt x="59436" y="19050"/>
                    <a:pt x="19050" y="58674"/>
                    <a:pt x="19050" y="107061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2781" y="4856797"/>
            <a:ext cx="5428193" cy="457114"/>
            <a:chOff x="0" y="0"/>
            <a:chExt cx="7237590" cy="6094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37586" cy="609481"/>
            </a:xfrm>
            <a:custGeom>
              <a:avLst/>
              <a:gdLst/>
              <a:ahLst/>
              <a:cxnLst/>
              <a:rect r="r" b="b" t="t" l="l"/>
              <a:pathLst>
                <a:path h="609481" w="7237586">
                  <a:moveTo>
                    <a:pt x="0" y="0"/>
                  </a:moveTo>
                  <a:lnTo>
                    <a:pt x="7237586" y="0"/>
                  </a:lnTo>
                  <a:lnTo>
                    <a:pt x="7237586" y="609481"/>
                  </a:lnTo>
                  <a:lnTo>
                    <a:pt x="0" y="609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237590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 spc="112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Powered by ECI Data Only · Non-Partisan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2781" y="9142219"/>
            <a:ext cx="8570824" cy="314268"/>
            <a:chOff x="0" y="0"/>
            <a:chExt cx="11427765" cy="419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27768" cy="419018"/>
            </a:xfrm>
            <a:custGeom>
              <a:avLst/>
              <a:gdLst/>
              <a:ahLst/>
              <a:cxnLst/>
              <a:rect r="r" b="b" t="t" l="l"/>
              <a:pathLst>
                <a:path h="419018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409" r="0" b="-4814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427765" cy="428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Anshu Kunwar · May 2026 · Python · Power BI · Canva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10142144"/>
            <a:ext cx="6099572" cy="142846"/>
            <a:chOff x="0" y="0"/>
            <a:chExt cx="8132762" cy="1904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32699" cy="190500"/>
            </a:xfrm>
            <a:custGeom>
              <a:avLst/>
              <a:gdLst/>
              <a:ahLst/>
              <a:cxnLst/>
              <a:rect r="r" b="b" t="t" l="l"/>
              <a:pathLst>
                <a:path h="190500" w="8132699">
                  <a:moveTo>
                    <a:pt x="0" y="0"/>
                  </a:moveTo>
                  <a:lnTo>
                    <a:pt x="8132699" y="0"/>
                  </a:lnTo>
                  <a:lnTo>
                    <a:pt x="8132699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99572" y="10142144"/>
            <a:ext cx="6085284" cy="142846"/>
            <a:chOff x="0" y="0"/>
            <a:chExt cx="8113712" cy="1904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3776" cy="190500"/>
            </a:xfrm>
            <a:custGeom>
              <a:avLst/>
              <a:gdLst/>
              <a:ahLst/>
              <a:cxnLst/>
              <a:rect r="r" b="b" t="t" l="l"/>
              <a:pathLst>
                <a:path h="190500" w="8113776">
                  <a:moveTo>
                    <a:pt x="0" y="0"/>
                  </a:moveTo>
                  <a:lnTo>
                    <a:pt x="8113776" y="0"/>
                  </a:lnTo>
                  <a:lnTo>
                    <a:pt x="8113776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84856" y="10142144"/>
            <a:ext cx="6099572" cy="142846"/>
            <a:chOff x="0" y="0"/>
            <a:chExt cx="8132762" cy="1904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32699" cy="190500"/>
            </a:xfrm>
            <a:custGeom>
              <a:avLst/>
              <a:gdLst/>
              <a:ahLst/>
              <a:cxnLst/>
              <a:rect r="r" b="b" t="t" l="l"/>
              <a:pathLst>
                <a:path h="190500" w="8132699">
                  <a:moveTo>
                    <a:pt x="0" y="0"/>
                  </a:moveTo>
                  <a:lnTo>
                    <a:pt x="8132699" y="0"/>
                  </a:lnTo>
                  <a:lnTo>
                    <a:pt x="8132699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507076" y="3021220"/>
            <a:ext cx="2871226" cy="2871226"/>
            <a:chOff x="0" y="0"/>
            <a:chExt cx="3828301" cy="38283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9525" y="9525"/>
              <a:ext cx="3809238" cy="3809238"/>
            </a:xfrm>
            <a:custGeom>
              <a:avLst/>
              <a:gdLst/>
              <a:ahLst/>
              <a:cxnLst/>
              <a:rect r="r" b="b" t="t" l="l"/>
              <a:pathLst>
                <a:path h="3809238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3809238"/>
                  </a:lnTo>
                  <a:lnTo>
                    <a:pt x="0" y="3809238"/>
                  </a:lnTo>
                  <a:close/>
                </a:path>
              </a:pathLst>
            </a:custGeom>
            <a:blipFill>
              <a:blip r:embed="rId2">
                <a:alphaModFix amt="3922"/>
              </a:blip>
              <a:stretch>
                <a:fillRect l="-78945" t="-250" r="-78945" b="-25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28288" cy="3828288"/>
            </a:xfrm>
            <a:custGeom>
              <a:avLst/>
              <a:gdLst/>
              <a:ahLst/>
              <a:cxnLst/>
              <a:rect r="r" b="b" t="t" l="l"/>
              <a:pathLst>
                <a:path h="3828288" w="3828288">
                  <a:moveTo>
                    <a:pt x="9525" y="0"/>
                  </a:moveTo>
                  <a:lnTo>
                    <a:pt x="3818763" y="0"/>
                  </a:lnTo>
                  <a:cubicBezTo>
                    <a:pt x="3823970" y="0"/>
                    <a:pt x="3828288" y="4318"/>
                    <a:pt x="3828288" y="9525"/>
                  </a:cubicBezTo>
                  <a:lnTo>
                    <a:pt x="3828288" y="3818763"/>
                  </a:lnTo>
                  <a:cubicBezTo>
                    <a:pt x="3828288" y="3823970"/>
                    <a:pt x="3823970" y="3828288"/>
                    <a:pt x="3818763" y="3828288"/>
                  </a:cubicBezTo>
                  <a:lnTo>
                    <a:pt x="9525" y="3828288"/>
                  </a:lnTo>
                  <a:cubicBezTo>
                    <a:pt x="4318" y="3828288"/>
                    <a:pt x="0" y="3823970"/>
                    <a:pt x="0" y="38187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818763"/>
                  </a:lnTo>
                  <a:lnTo>
                    <a:pt x="9525" y="3818763"/>
                  </a:lnTo>
                  <a:lnTo>
                    <a:pt x="9525" y="3809238"/>
                  </a:lnTo>
                  <a:lnTo>
                    <a:pt x="3818763" y="3809238"/>
                  </a:lnTo>
                  <a:lnTo>
                    <a:pt x="3818763" y="3818763"/>
                  </a:lnTo>
                  <a:lnTo>
                    <a:pt x="3809238" y="3818763"/>
                  </a:lnTo>
                  <a:lnTo>
                    <a:pt x="3809238" y="9525"/>
                  </a:lnTo>
                  <a:lnTo>
                    <a:pt x="3818763" y="9525"/>
                  </a:lnTo>
                  <a:lnTo>
                    <a:pt x="3818763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87722">
                <a:alpha val="1569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5954" y="9142219"/>
            <a:ext cx="171412" cy="171412"/>
            <a:chOff x="0" y="0"/>
            <a:chExt cx="228549" cy="2285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227363" y="9142219"/>
            <a:ext cx="114281" cy="114281"/>
            <a:chOff x="0" y="0"/>
            <a:chExt cx="152375" cy="1523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E87722">
                <a:alpha val="2509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541621" y="9142219"/>
            <a:ext cx="85706" cy="85706"/>
            <a:chOff x="0" y="0"/>
            <a:chExt cx="114275" cy="1142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646" y="114300"/>
                    <a:pt x="57150" y="114300"/>
                  </a:cubicBezTo>
                  <a:cubicBezTo>
                    <a:pt x="25654" y="114300"/>
                    <a:pt x="0" y="88646"/>
                    <a:pt x="0" y="57150"/>
                  </a:cubicBezTo>
                  <a:close/>
                </a:path>
              </a:pathLst>
            </a:custGeom>
            <a:solidFill>
              <a:srgbClr val="E87722">
                <a:alpha val="6275"/>
              </a:srgbClr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3012696" y="1888778"/>
            <a:ext cx="4443893" cy="5921770"/>
          </a:xfrm>
          <a:custGeom>
            <a:avLst/>
            <a:gdLst/>
            <a:ahLst/>
            <a:cxnLst/>
            <a:rect r="r" b="b" t="t" l="l"/>
            <a:pathLst>
              <a:path h="5921770" w="4443893">
                <a:moveTo>
                  <a:pt x="0" y="0"/>
                </a:moveTo>
                <a:lnTo>
                  <a:pt x="4443893" y="0"/>
                </a:lnTo>
                <a:lnTo>
                  <a:pt x="4443893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8333" y="1999859"/>
            <a:ext cx="11427771" cy="342833"/>
            <a:chOff x="0" y="0"/>
            <a:chExt cx="15237028" cy="457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37023" cy="457111"/>
            </a:xfrm>
            <a:custGeom>
              <a:avLst/>
              <a:gdLst/>
              <a:ahLst/>
              <a:cxnLst/>
              <a:rect r="r" b="b" t="t" l="l"/>
              <a:pathLst>
                <a:path h="45711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237028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 spc="337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THE STORY IN ONE SENTENCE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4092" y="2856938"/>
            <a:ext cx="12856235" cy="857079"/>
            <a:chOff x="0" y="0"/>
            <a:chExt cx="17141647" cy="11427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1142777"/>
            </a:xfrm>
            <a:custGeom>
              <a:avLst/>
              <a:gdLst/>
              <a:ahLst/>
              <a:cxnLst/>
              <a:rect r="r" b="b" t="t" l="l"/>
              <a:pathLst>
                <a:path h="1142777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141647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78"/>
                </a:lnSpc>
              </a:pPr>
              <a:r>
                <a:rPr lang="en-US" sz="5398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 landslide in seats.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99859" y="3856873"/>
            <a:ext cx="14284709" cy="857079"/>
            <a:chOff x="0" y="0"/>
            <a:chExt cx="19046279" cy="11427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46279" cy="1142777"/>
            </a:xfrm>
            <a:custGeom>
              <a:avLst/>
              <a:gdLst/>
              <a:ahLst/>
              <a:cxnLst/>
              <a:rect r="r" b="b" t="t" l="l"/>
              <a:pathLst>
                <a:path h="1142777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046279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78"/>
                </a:lnSpc>
              </a:pPr>
              <a:r>
                <a:rPr lang="en-US" sz="5398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 fragmented mandate in votes.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5627" y="4856797"/>
            <a:ext cx="15713183" cy="857079"/>
            <a:chOff x="0" y="0"/>
            <a:chExt cx="20950911" cy="11427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50909" cy="1142777"/>
            </a:xfrm>
            <a:custGeom>
              <a:avLst/>
              <a:gdLst/>
              <a:ahLst/>
              <a:cxnLst/>
              <a:rect r="r" b="b" t="t" l="l"/>
              <a:pathLst>
                <a:path h="1142777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950911" cy="1142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68"/>
                </a:lnSpc>
              </a:pPr>
              <a:r>
                <a:rPr lang="en-US" sz="47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And it happened equally across every seat category.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35294" y="6278128"/>
            <a:ext cx="6413830" cy="14288"/>
            <a:chOff x="0" y="0"/>
            <a:chExt cx="8551774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0"/>
              <a:ext cx="8532749" cy="19050"/>
            </a:xfrm>
            <a:custGeom>
              <a:avLst/>
              <a:gdLst/>
              <a:ahLst/>
              <a:cxnLst/>
              <a:rect r="r" b="b" t="t" l="l"/>
              <a:pathLst>
                <a:path h="19050" w="8532749">
                  <a:moveTo>
                    <a:pt x="0" y="0"/>
                  </a:moveTo>
                  <a:lnTo>
                    <a:pt x="8532749" y="0"/>
                  </a:lnTo>
                  <a:lnTo>
                    <a:pt x="853274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99859" y="6856657"/>
            <a:ext cx="4285412" cy="399974"/>
            <a:chOff x="0" y="0"/>
            <a:chExt cx="5713882" cy="533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3884" cy="533296"/>
            </a:xfrm>
            <a:custGeom>
              <a:avLst/>
              <a:gdLst/>
              <a:ahLst/>
              <a:cxnLst/>
              <a:rect r="r" b="b" t="t" l="l"/>
              <a:pathLst>
                <a:path h="533296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7" r="0" b="-1587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13882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Q2: The Flip Story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99503" y="6856657"/>
            <a:ext cx="4285412" cy="399974"/>
            <a:chOff x="0" y="0"/>
            <a:chExt cx="5713882" cy="5332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3884" cy="533296"/>
            </a:xfrm>
            <a:custGeom>
              <a:avLst/>
              <a:gdLst/>
              <a:ahLst/>
              <a:cxnLst/>
              <a:rect r="r" b="b" t="t" l="l"/>
              <a:pathLst>
                <a:path h="533296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7" r="0" b="-15876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713882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Q4: Reserved Seats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99157" y="6856657"/>
            <a:ext cx="4285412" cy="399974"/>
            <a:chOff x="0" y="0"/>
            <a:chExt cx="5713882" cy="5332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3884" cy="533296"/>
            </a:xfrm>
            <a:custGeom>
              <a:avLst/>
              <a:gdLst/>
              <a:ahLst/>
              <a:cxnLst/>
              <a:rect r="r" b="b" t="t" l="l"/>
              <a:pathLst>
                <a:path h="533296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7" r="0" b="-15876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13882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Q6: The Mandate Paradox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28333" y="8285131"/>
            <a:ext cx="11427771" cy="342833"/>
            <a:chOff x="0" y="0"/>
            <a:chExt cx="15237028" cy="457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37023" cy="457111"/>
            </a:xfrm>
            <a:custGeom>
              <a:avLst/>
              <a:gdLst/>
              <a:ahLst/>
              <a:cxnLst/>
              <a:rect r="r" b="b" t="t" l="l"/>
              <a:pathLst>
                <a:path h="45711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5237028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Three stories. One show. 234 constituencies. All ECI data.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2856235" cy="571386"/>
            <a:chOff x="0" y="0"/>
            <a:chExt cx="17141647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761851"/>
            </a:xfrm>
            <a:custGeom>
              <a:avLst/>
              <a:gdLst/>
              <a:ahLst/>
              <a:cxnLst/>
              <a:rect r="r" b="b" t="t" l="l"/>
              <a:pathLst>
                <a:path h="761851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141647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Story 1: 70% of Tamil Nadu Changed Hands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Q2 · The Flip Story · 163 of 234 constituencies recorded a change in winner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024758"/>
            <a:ext cx="7284780" cy="5292691"/>
            <a:chOff x="0" y="0"/>
            <a:chExt cx="12939928" cy="94013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03" y="11168"/>
              <a:ext cx="12920911" cy="9379096"/>
            </a:xfrm>
            <a:custGeom>
              <a:avLst/>
              <a:gdLst/>
              <a:ahLst/>
              <a:cxnLst/>
              <a:rect r="r" b="b" t="t" l="l"/>
              <a:pathLst>
                <a:path h="9379096" w="12920911">
                  <a:moveTo>
                    <a:pt x="0" y="750321"/>
                  </a:moveTo>
                  <a:cubicBezTo>
                    <a:pt x="0" y="335925"/>
                    <a:pt x="286089" y="0"/>
                    <a:pt x="639077" y="0"/>
                  </a:cubicBezTo>
                  <a:lnTo>
                    <a:pt x="12281833" y="0"/>
                  </a:lnTo>
                  <a:cubicBezTo>
                    <a:pt x="12634821" y="0"/>
                    <a:pt x="12920910" y="335925"/>
                    <a:pt x="12920910" y="750321"/>
                  </a:cubicBezTo>
                  <a:lnTo>
                    <a:pt x="12920910" y="8628774"/>
                  </a:lnTo>
                  <a:cubicBezTo>
                    <a:pt x="12920910" y="9043170"/>
                    <a:pt x="12634821" y="9379096"/>
                    <a:pt x="12281833" y="9379096"/>
                  </a:cubicBezTo>
                  <a:lnTo>
                    <a:pt x="639077" y="9379096"/>
                  </a:lnTo>
                  <a:cubicBezTo>
                    <a:pt x="286089" y="9379096"/>
                    <a:pt x="0" y="9043172"/>
                    <a:pt x="0" y="8628774"/>
                  </a:cubicBezTo>
                  <a:close/>
                </a:path>
              </a:pathLst>
            </a:custGeom>
            <a:blipFill>
              <a:blip r:embed="rId3"/>
              <a:stretch>
                <a:fillRect l="-953" t="-119" r="-956" b="-8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39916" cy="9401425"/>
            </a:xfrm>
            <a:custGeom>
              <a:avLst/>
              <a:gdLst/>
              <a:ahLst/>
              <a:cxnLst/>
              <a:rect r="r" b="b" t="t" l="l"/>
              <a:pathLst>
                <a:path h="9401425" w="12939916">
                  <a:moveTo>
                    <a:pt x="0" y="761489"/>
                  </a:moveTo>
                  <a:cubicBezTo>
                    <a:pt x="0" y="340988"/>
                    <a:pt x="290397" y="0"/>
                    <a:pt x="648580" y="0"/>
                  </a:cubicBezTo>
                  <a:lnTo>
                    <a:pt x="12291336" y="0"/>
                  </a:lnTo>
                  <a:lnTo>
                    <a:pt x="12291336" y="11168"/>
                  </a:lnTo>
                  <a:lnTo>
                    <a:pt x="12291336" y="0"/>
                  </a:lnTo>
                  <a:cubicBezTo>
                    <a:pt x="12649519" y="0"/>
                    <a:pt x="12939916" y="340988"/>
                    <a:pt x="12939916" y="761489"/>
                  </a:cubicBezTo>
                  <a:lnTo>
                    <a:pt x="12930413" y="761489"/>
                  </a:lnTo>
                  <a:lnTo>
                    <a:pt x="12939916" y="761489"/>
                  </a:lnTo>
                  <a:lnTo>
                    <a:pt x="12939916" y="8639942"/>
                  </a:lnTo>
                  <a:lnTo>
                    <a:pt x="12930413" y="8639942"/>
                  </a:lnTo>
                  <a:lnTo>
                    <a:pt x="12939916" y="8639942"/>
                  </a:lnTo>
                  <a:cubicBezTo>
                    <a:pt x="12939916" y="9060444"/>
                    <a:pt x="12649519" y="9401425"/>
                    <a:pt x="12291336" y="9401425"/>
                  </a:cubicBezTo>
                  <a:lnTo>
                    <a:pt x="12291336" y="9390264"/>
                  </a:lnTo>
                  <a:lnTo>
                    <a:pt x="12291336" y="9401425"/>
                  </a:lnTo>
                  <a:lnTo>
                    <a:pt x="648580" y="9401425"/>
                  </a:lnTo>
                  <a:lnTo>
                    <a:pt x="648580" y="9390264"/>
                  </a:lnTo>
                  <a:lnTo>
                    <a:pt x="648580" y="9401425"/>
                  </a:lnTo>
                  <a:cubicBezTo>
                    <a:pt x="290397" y="9401425"/>
                    <a:pt x="0" y="9060444"/>
                    <a:pt x="0" y="8639942"/>
                  </a:cubicBezTo>
                  <a:lnTo>
                    <a:pt x="0" y="761489"/>
                  </a:lnTo>
                  <a:lnTo>
                    <a:pt x="9503" y="761489"/>
                  </a:lnTo>
                  <a:lnTo>
                    <a:pt x="0" y="761489"/>
                  </a:lnTo>
                  <a:moveTo>
                    <a:pt x="19005" y="761489"/>
                  </a:moveTo>
                  <a:lnTo>
                    <a:pt x="19005" y="8639942"/>
                  </a:lnTo>
                  <a:lnTo>
                    <a:pt x="9503" y="8639942"/>
                  </a:lnTo>
                  <a:lnTo>
                    <a:pt x="19005" y="8639942"/>
                  </a:lnTo>
                  <a:cubicBezTo>
                    <a:pt x="19005" y="9048085"/>
                    <a:pt x="300787" y="9379097"/>
                    <a:pt x="648580" y="9379097"/>
                  </a:cubicBezTo>
                  <a:lnTo>
                    <a:pt x="12291336" y="9379097"/>
                  </a:lnTo>
                  <a:cubicBezTo>
                    <a:pt x="12639002" y="9379097"/>
                    <a:pt x="12920911" y="9048085"/>
                    <a:pt x="12920911" y="8639942"/>
                  </a:cubicBezTo>
                  <a:lnTo>
                    <a:pt x="12920911" y="761489"/>
                  </a:lnTo>
                  <a:cubicBezTo>
                    <a:pt x="12920911" y="353347"/>
                    <a:pt x="12639129" y="22335"/>
                    <a:pt x="12291336" y="22335"/>
                  </a:cubicBezTo>
                  <a:lnTo>
                    <a:pt x="648580" y="22335"/>
                  </a:lnTo>
                  <a:lnTo>
                    <a:pt x="648580" y="11168"/>
                  </a:lnTo>
                  <a:lnTo>
                    <a:pt x="648580" y="22335"/>
                  </a:lnTo>
                  <a:cubicBezTo>
                    <a:pt x="300787" y="22335"/>
                    <a:pt x="19005" y="353347"/>
                    <a:pt x="19005" y="761489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9242" y="1564176"/>
            <a:ext cx="6728098" cy="1514180"/>
            <a:chOff x="0" y="0"/>
            <a:chExt cx="8970797" cy="20189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9525"/>
              <a:ext cx="8951722" cy="1999869"/>
            </a:xfrm>
            <a:custGeom>
              <a:avLst/>
              <a:gdLst/>
              <a:ahLst/>
              <a:cxnLst/>
              <a:rect r="r" b="b" t="t" l="l"/>
              <a:pathLst>
                <a:path h="1999869" w="8951722">
                  <a:moveTo>
                    <a:pt x="0" y="160020"/>
                  </a:moveTo>
                  <a:cubicBezTo>
                    <a:pt x="0" y="71628"/>
                    <a:pt x="72136" y="0"/>
                    <a:pt x="161163" y="0"/>
                  </a:cubicBezTo>
                  <a:lnTo>
                    <a:pt x="8790559" y="0"/>
                  </a:lnTo>
                  <a:cubicBezTo>
                    <a:pt x="8879586" y="0"/>
                    <a:pt x="8951722" y="71628"/>
                    <a:pt x="8951722" y="160020"/>
                  </a:cubicBezTo>
                  <a:lnTo>
                    <a:pt x="8951722" y="1839849"/>
                  </a:lnTo>
                  <a:cubicBezTo>
                    <a:pt x="8951722" y="1928241"/>
                    <a:pt x="8879586" y="1999869"/>
                    <a:pt x="8790559" y="1999869"/>
                  </a:cubicBezTo>
                  <a:lnTo>
                    <a:pt x="161163" y="1999869"/>
                  </a:lnTo>
                  <a:cubicBezTo>
                    <a:pt x="72136" y="1999869"/>
                    <a:pt x="0" y="1928241"/>
                    <a:pt x="0" y="183984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70772" cy="2018919"/>
            </a:xfrm>
            <a:custGeom>
              <a:avLst/>
              <a:gdLst/>
              <a:ahLst/>
              <a:cxnLst/>
              <a:rect r="r" b="b" t="t" l="l"/>
              <a:pathLst>
                <a:path h="2018919" w="8970772">
                  <a:moveTo>
                    <a:pt x="0" y="169545"/>
                  </a:moveTo>
                  <a:cubicBezTo>
                    <a:pt x="0" y="75819"/>
                    <a:pt x="76454" y="0"/>
                    <a:pt x="170688" y="0"/>
                  </a:cubicBezTo>
                  <a:lnTo>
                    <a:pt x="8800084" y="0"/>
                  </a:lnTo>
                  <a:lnTo>
                    <a:pt x="8800084" y="9525"/>
                  </a:lnTo>
                  <a:lnTo>
                    <a:pt x="8800084" y="0"/>
                  </a:lnTo>
                  <a:cubicBezTo>
                    <a:pt x="8894318" y="0"/>
                    <a:pt x="8970772" y="75819"/>
                    <a:pt x="8970772" y="169545"/>
                  </a:cubicBezTo>
                  <a:lnTo>
                    <a:pt x="8961247" y="169545"/>
                  </a:lnTo>
                  <a:lnTo>
                    <a:pt x="8970772" y="169545"/>
                  </a:lnTo>
                  <a:lnTo>
                    <a:pt x="8970772" y="1849374"/>
                  </a:lnTo>
                  <a:lnTo>
                    <a:pt x="8961247" y="1849374"/>
                  </a:lnTo>
                  <a:lnTo>
                    <a:pt x="8970772" y="1849374"/>
                  </a:lnTo>
                  <a:cubicBezTo>
                    <a:pt x="8970772" y="1943100"/>
                    <a:pt x="8894318" y="2018919"/>
                    <a:pt x="8800084" y="2018919"/>
                  </a:cubicBezTo>
                  <a:lnTo>
                    <a:pt x="8800084" y="2009394"/>
                  </a:lnTo>
                  <a:lnTo>
                    <a:pt x="8800084" y="2018919"/>
                  </a:lnTo>
                  <a:lnTo>
                    <a:pt x="170688" y="2018919"/>
                  </a:lnTo>
                  <a:lnTo>
                    <a:pt x="170688" y="2009394"/>
                  </a:lnTo>
                  <a:lnTo>
                    <a:pt x="170688" y="2018919"/>
                  </a:lnTo>
                  <a:cubicBezTo>
                    <a:pt x="76454" y="2018919"/>
                    <a:pt x="0" y="1943100"/>
                    <a:pt x="0" y="1849374"/>
                  </a:cubicBezTo>
                  <a:lnTo>
                    <a:pt x="0" y="169545"/>
                  </a:lnTo>
                  <a:lnTo>
                    <a:pt x="9525" y="169545"/>
                  </a:lnTo>
                  <a:lnTo>
                    <a:pt x="0" y="169545"/>
                  </a:lnTo>
                  <a:moveTo>
                    <a:pt x="19050" y="169545"/>
                  </a:moveTo>
                  <a:lnTo>
                    <a:pt x="19050" y="1849374"/>
                  </a:lnTo>
                  <a:lnTo>
                    <a:pt x="9525" y="1849374"/>
                  </a:lnTo>
                  <a:lnTo>
                    <a:pt x="19050" y="1849374"/>
                  </a:lnTo>
                  <a:cubicBezTo>
                    <a:pt x="19050" y="1932432"/>
                    <a:pt x="86868" y="1999869"/>
                    <a:pt x="170688" y="1999869"/>
                  </a:cubicBezTo>
                  <a:lnTo>
                    <a:pt x="8800084" y="1999869"/>
                  </a:lnTo>
                  <a:cubicBezTo>
                    <a:pt x="8883903" y="1999869"/>
                    <a:pt x="8951722" y="1932432"/>
                    <a:pt x="8951722" y="1849374"/>
                  </a:cubicBezTo>
                  <a:lnTo>
                    <a:pt x="8951722" y="169545"/>
                  </a:lnTo>
                  <a:cubicBezTo>
                    <a:pt x="8951722" y="86487"/>
                    <a:pt x="8883903" y="19050"/>
                    <a:pt x="8800084" y="19050"/>
                  </a:cubicBezTo>
                  <a:lnTo>
                    <a:pt x="170688" y="19050"/>
                  </a:lnTo>
                  <a:lnTo>
                    <a:pt x="170688" y="9525"/>
                  </a:lnTo>
                  <a:lnTo>
                    <a:pt x="170688" y="19050"/>
                  </a:lnTo>
                  <a:cubicBezTo>
                    <a:pt x="86868" y="19050"/>
                    <a:pt x="19050" y="86487"/>
                    <a:pt x="19050" y="1695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42078" y="1628461"/>
            <a:ext cx="6142425" cy="685667"/>
            <a:chOff x="0" y="0"/>
            <a:chExt cx="8189900" cy="914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89900" cy="914221"/>
            </a:xfrm>
            <a:custGeom>
              <a:avLst/>
              <a:gdLst/>
              <a:ahLst/>
              <a:cxnLst/>
              <a:rect r="r" b="b" t="t" l="l"/>
              <a:pathLst>
                <a:path h="914221" w="8189900">
                  <a:moveTo>
                    <a:pt x="0" y="0"/>
                  </a:moveTo>
                  <a:lnTo>
                    <a:pt x="8189900" y="0"/>
                  </a:lnTo>
                  <a:lnTo>
                    <a:pt x="8189900" y="914221"/>
                  </a:lnTo>
                  <a:lnTo>
                    <a:pt x="0" y="914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189900" cy="923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sz="404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163 / 234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42078" y="2237927"/>
            <a:ext cx="6142425" cy="79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Seats changed hands</a:t>
            </a:r>
          </a:p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69.7% of the state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49242" y="3164062"/>
            <a:ext cx="6728098" cy="1514180"/>
            <a:chOff x="0" y="0"/>
            <a:chExt cx="8970797" cy="2018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525" y="9525"/>
              <a:ext cx="8951722" cy="1999869"/>
            </a:xfrm>
            <a:custGeom>
              <a:avLst/>
              <a:gdLst/>
              <a:ahLst/>
              <a:cxnLst/>
              <a:rect r="r" b="b" t="t" l="l"/>
              <a:pathLst>
                <a:path h="1999869" w="8951722">
                  <a:moveTo>
                    <a:pt x="0" y="160020"/>
                  </a:moveTo>
                  <a:cubicBezTo>
                    <a:pt x="0" y="71628"/>
                    <a:pt x="72136" y="0"/>
                    <a:pt x="161163" y="0"/>
                  </a:cubicBezTo>
                  <a:lnTo>
                    <a:pt x="8790559" y="0"/>
                  </a:lnTo>
                  <a:cubicBezTo>
                    <a:pt x="8879586" y="0"/>
                    <a:pt x="8951722" y="71628"/>
                    <a:pt x="8951722" y="160020"/>
                  </a:cubicBezTo>
                  <a:lnTo>
                    <a:pt x="8951722" y="1839849"/>
                  </a:lnTo>
                  <a:cubicBezTo>
                    <a:pt x="8951722" y="1928241"/>
                    <a:pt x="8879586" y="1999869"/>
                    <a:pt x="8790559" y="1999869"/>
                  </a:cubicBezTo>
                  <a:lnTo>
                    <a:pt x="161163" y="1999869"/>
                  </a:lnTo>
                  <a:cubicBezTo>
                    <a:pt x="72136" y="1999869"/>
                    <a:pt x="0" y="1928241"/>
                    <a:pt x="0" y="183984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70772" cy="2018919"/>
            </a:xfrm>
            <a:custGeom>
              <a:avLst/>
              <a:gdLst/>
              <a:ahLst/>
              <a:cxnLst/>
              <a:rect r="r" b="b" t="t" l="l"/>
              <a:pathLst>
                <a:path h="2018919" w="8970772">
                  <a:moveTo>
                    <a:pt x="0" y="169545"/>
                  </a:moveTo>
                  <a:cubicBezTo>
                    <a:pt x="0" y="75819"/>
                    <a:pt x="76454" y="0"/>
                    <a:pt x="170688" y="0"/>
                  </a:cubicBezTo>
                  <a:lnTo>
                    <a:pt x="8800084" y="0"/>
                  </a:lnTo>
                  <a:lnTo>
                    <a:pt x="8800084" y="9525"/>
                  </a:lnTo>
                  <a:lnTo>
                    <a:pt x="8800084" y="0"/>
                  </a:lnTo>
                  <a:cubicBezTo>
                    <a:pt x="8894318" y="0"/>
                    <a:pt x="8970772" y="75819"/>
                    <a:pt x="8970772" y="169545"/>
                  </a:cubicBezTo>
                  <a:lnTo>
                    <a:pt x="8961247" y="169545"/>
                  </a:lnTo>
                  <a:lnTo>
                    <a:pt x="8970772" y="169545"/>
                  </a:lnTo>
                  <a:lnTo>
                    <a:pt x="8970772" y="1849374"/>
                  </a:lnTo>
                  <a:lnTo>
                    <a:pt x="8961247" y="1849374"/>
                  </a:lnTo>
                  <a:lnTo>
                    <a:pt x="8970772" y="1849374"/>
                  </a:lnTo>
                  <a:cubicBezTo>
                    <a:pt x="8970772" y="1943100"/>
                    <a:pt x="8894318" y="2018919"/>
                    <a:pt x="8800084" y="2018919"/>
                  </a:cubicBezTo>
                  <a:lnTo>
                    <a:pt x="8800084" y="2009394"/>
                  </a:lnTo>
                  <a:lnTo>
                    <a:pt x="8800084" y="2018919"/>
                  </a:lnTo>
                  <a:lnTo>
                    <a:pt x="170688" y="2018919"/>
                  </a:lnTo>
                  <a:lnTo>
                    <a:pt x="170688" y="2009394"/>
                  </a:lnTo>
                  <a:lnTo>
                    <a:pt x="170688" y="2018919"/>
                  </a:lnTo>
                  <a:cubicBezTo>
                    <a:pt x="76454" y="2018919"/>
                    <a:pt x="0" y="1943100"/>
                    <a:pt x="0" y="1849374"/>
                  </a:cubicBezTo>
                  <a:lnTo>
                    <a:pt x="0" y="169545"/>
                  </a:lnTo>
                  <a:lnTo>
                    <a:pt x="9525" y="169545"/>
                  </a:lnTo>
                  <a:lnTo>
                    <a:pt x="0" y="169545"/>
                  </a:lnTo>
                  <a:moveTo>
                    <a:pt x="19050" y="169545"/>
                  </a:moveTo>
                  <a:lnTo>
                    <a:pt x="19050" y="1849374"/>
                  </a:lnTo>
                  <a:lnTo>
                    <a:pt x="9525" y="1849374"/>
                  </a:lnTo>
                  <a:lnTo>
                    <a:pt x="19050" y="1849374"/>
                  </a:lnTo>
                  <a:cubicBezTo>
                    <a:pt x="19050" y="1932432"/>
                    <a:pt x="86868" y="1999869"/>
                    <a:pt x="170688" y="1999869"/>
                  </a:cubicBezTo>
                  <a:lnTo>
                    <a:pt x="8800084" y="1999869"/>
                  </a:lnTo>
                  <a:cubicBezTo>
                    <a:pt x="8883903" y="1999869"/>
                    <a:pt x="8951722" y="1932432"/>
                    <a:pt x="8951722" y="1849374"/>
                  </a:cubicBezTo>
                  <a:lnTo>
                    <a:pt x="8951722" y="169545"/>
                  </a:lnTo>
                  <a:cubicBezTo>
                    <a:pt x="8951722" y="86487"/>
                    <a:pt x="8883903" y="19050"/>
                    <a:pt x="8800084" y="19050"/>
                  </a:cubicBezTo>
                  <a:lnTo>
                    <a:pt x="170688" y="19050"/>
                  </a:lnTo>
                  <a:lnTo>
                    <a:pt x="170688" y="9525"/>
                  </a:lnTo>
                  <a:lnTo>
                    <a:pt x="170688" y="19050"/>
                  </a:lnTo>
                  <a:cubicBezTo>
                    <a:pt x="86868" y="19050"/>
                    <a:pt x="19050" y="86487"/>
                    <a:pt x="19050" y="1695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42078" y="3228346"/>
            <a:ext cx="6142425" cy="685667"/>
            <a:chOff x="0" y="0"/>
            <a:chExt cx="8189900" cy="9142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89900" cy="914221"/>
            </a:xfrm>
            <a:custGeom>
              <a:avLst/>
              <a:gdLst/>
              <a:ahLst/>
              <a:cxnLst/>
              <a:rect r="r" b="b" t="t" l="l"/>
              <a:pathLst>
                <a:path h="914221" w="8189900">
                  <a:moveTo>
                    <a:pt x="0" y="0"/>
                  </a:moveTo>
                  <a:lnTo>
                    <a:pt x="8189900" y="0"/>
                  </a:lnTo>
                  <a:lnTo>
                    <a:pt x="8189900" y="914221"/>
                  </a:lnTo>
                  <a:lnTo>
                    <a:pt x="0" y="914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189900" cy="923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sz="40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65 seats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142078" y="3837813"/>
            <a:ext cx="6142425" cy="79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DMK held in 2021</a:t>
            </a:r>
          </a:p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went to TVK in 2026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49242" y="4763948"/>
            <a:ext cx="6728098" cy="1514180"/>
            <a:chOff x="0" y="0"/>
            <a:chExt cx="8970797" cy="20189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9525" y="9525"/>
              <a:ext cx="8951722" cy="1999869"/>
            </a:xfrm>
            <a:custGeom>
              <a:avLst/>
              <a:gdLst/>
              <a:ahLst/>
              <a:cxnLst/>
              <a:rect r="r" b="b" t="t" l="l"/>
              <a:pathLst>
                <a:path h="1999869" w="8951722">
                  <a:moveTo>
                    <a:pt x="0" y="160020"/>
                  </a:moveTo>
                  <a:cubicBezTo>
                    <a:pt x="0" y="71628"/>
                    <a:pt x="72136" y="0"/>
                    <a:pt x="161163" y="0"/>
                  </a:cubicBezTo>
                  <a:lnTo>
                    <a:pt x="8790559" y="0"/>
                  </a:lnTo>
                  <a:cubicBezTo>
                    <a:pt x="8879586" y="0"/>
                    <a:pt x="8951722" y="71628"/>
                    <a:pt x="8951722" y="160020"/>
                  </a:cubicBezTo>
                  <a:lnTo>
                    <a:pt x="8951722" y="1839849"/>
                  </a:lnTo>
                  <a:cubicBezTo>
                    <a:pt x="8951722" y="1928241"/>
                    <a:pt x="8879586" y="1999869"/>
                    <a:pt x="8790559" y="1999869"/>
                  </a:cubicBezTo>
                  <a:lnTo>
                    <a:pt x="161163" y="1999869"/>
                  </a:lnTo>
                  <a:cubicBezTo>
                    <a:pt x="72136" y="1999869"/>
                    <a:pt x="0" y="1928241"/>
                    <a:pt x="0" y="183984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0772" cy="2018919"/>
            </a:xfrm>
            <a:custGeom>
              <a:avLst/>
              <a:gdLst/>
              <a:ahLst/>
              <a:cxnLst/>
              <a:rect r="r" b="b" t="t" l="l"/>
              <a:pathLst>
                <a:path h="2018919" w="8970772">
                  <a:moveTo>
                    <a:pt x="0" y="169545"/>
                  </a:moveTo>
                  <a:cubicBezTo>
                    <a:pt x="0" y="75819"/>
                    <a:pt x="76454" y="0"/>
                    <a:pt x="170688" y="0"/>
                  </a:cubicBezTo>
                  <a:lnTo>
                    <a:pt x="8800084" y="0"/>
                  </a:lnTo>
                  <a:lnTo>
                    <a:pt x="8800084" y="9525"/>
                  </a:lnTo>
                  <a:lnTo>
                    <a:pt x="8800084" y="0"/>
                  </a:lnTo>
                  <a:cubicBezTo>
                    <a:pt x="8894318" y="0"/>
                    <a:pt x="8970772" y="75819"/>
                    <a:pt x="8970772" y="169545"/>
                  </a:cubicBezTo>
                  <a:lnTo>
                    <a:pt x="8961247" y="169545"/>
                  </a:lnTo>
                  <a:lnTo>
                    <a:pt x="8970772" y="169545"/>
                  </a:lnTo>
                  <a:lnTo>
                    <a:pt x="8970772" y="1849374"/>
                  </a:lnTo>
                  <a:lnTo>
                    <a:pt x="8961247" y="1849374"/>
                  </a:lnTo>
                  <a:lnTo>
                    <a:pt x="8970772" y="1849374"/>
                  </a:lnTo>
                  <a:cubicBezTo>
                    <a:pt x="8970772" y="1943100"/>
                    <a:pt x="8894318" y="2018919"/>
                    <a:pt x="8800084" y="2018919"/>
                  </a:cubicBezTo>
                  <a:lnTo>
                    <a:pt x="8800084" y="2009394"/>
                  </a:lnTo>
                  <a:lnTo>
                    <a:pt x="8800084" y="2018919"/>
                  </a:lnTo>
                  <a:lnTo>
                    <a:pt x="170688" y="2018919"/>
                  </a:lnTo>
                  <a:lnTo>
                    <a:pt x="170688" y="2009394"/>
                  </a:lnTo>
                  <a:lnTo>
                    <a:pt x="170688" y="2018919"/>
                  </a:lnTo>
                  <a:cubicBezTo>
                    <a:pt x="76454" y="2018919"/>
                    <a:pt x="0" y="1943100"/>
                    <a:pt x="0" y="1849374"/>
                  </a:cubicBezTo>
                  <a:lnTo>
                    <a:pt x="0" y="169545"/>
                  </a:lnTo>
                  <a:lnTo>
                    <a:pt x="9525" y="169545"/>
                  </a:lnTo>
                  <a:lnTo>
                    <a:pt x="0" y="169545"/>
                  </a:lnTo>
                  <a:moveTo>
                    <a:pt x="19050" y="169545"/>
                  </a:moveTo>
                  <a:lnTo>
                    <a:pt x="19050" y="1849374"/>
                  </a:lnTo>
                  <a:lnTo>
                    <a:pt x="9525" y="1849374"/>
                  </a:lnTo>
                  <a:lnTo>
                    <a:pt x="19050" y="1849374"/>
                  </a:lnTo>
                  <a:cubicBezTo>
                    <a:pt x="19050" y="1932432"/>
                    <a:pt x="86868" y="1999869"/>
                    <a:pt x="170688" y="1999869"/>
                  </a:cubicBezTo>
                  <a:lnTo>
                    <a:pt x="8800084" y="1999869"/>
                  </a:lnTo>
                  <a:cubicBezTo>
                    <a:pt x="8883903" y="1999869"/>
                    <a:pt x="8951722" y="1932432"/>
                    <a:pt x="8951722" y="1849374"/>
                  </a:cubicBezTo>
                  <a:lnTo>
                    <a:pt x="8951722" y="169545"/>
                  </a:lnTo>
                  <a:cubicBezTo>
                    <a:pt x="8951722" y="86487"/>
                    <a:pt x="8883903" y="19050"/>
                    <a:pt x="8800084" y="19050"/>
                  </a:cubicBezTo>
                  <a:lnTo>
                    <a:pt x="170688" y="19050"/>
                  </a:lnTo>
                  <a:lnTo>
                    <a:pt x="170688" y="9525"/>
                  </a:lnTo>
                  <a:lnTo>
                    <a:pt x="170688" y="19050"/>
                  </a:lnTo>
                  <a:cubicBezTo>
                    <a:pt x="86868" y="19050"/>
                    <a:pt x="19050" y="86487"/>
                    <a:pt x="19050" y="1695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142078" y="4828232"/>
            <a:ext cx="6142425" cy="685667"/>
            <a:chOff x="0" y="0"/>
            <a:chExt cx="8189900" cy="9142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89900" cy="914221"/>
            </a:xfrm>
            <a:custGeom>
              <a:avLst/>
              <a:gdLst/>
              <a:ahLst/>
              <a:cxnLst/>
              <a:rect r="r" b="b" t="t" l="l"/>
              <a:pathLst>
                <a:path h="914221" w="8189900">
                  <a:moveTo>
                    <a:pt x="0" y="0"/>
                  </a:moveTo>
                  <a:lnTo>
                    <a:pt x="8189900" y="0"/>
                  </a:lnTo>
                  <a:lnTo>
                    <a:pt x="8189900" y="914221"/>
                  </a:lnTo>
                  <a:lnTo>
                    <a:pt x="0" y="914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553" r="0" b="-1245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189900" cy="923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sz="40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26 seats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142078" y="5437699"/>
            <a:ext cx="6142425" cy="79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AIADMK held in 2021</a:t>
            </a:r>
          </a:p>
          <a:p>
            <a:pPr algn="l">
              <a:lnSpc>
                <a:spcPts val="2645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went to TVK in 2026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849242" y="6363843"/>
            <a:ext cx="6728098" cy="1214199"/>
            <a:chOff x="0" y="0"/>
            <a:chExt cx="8970797" cy="16189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525" y="9525"/>
              <a:ext cx="8951849" cy="1599946"/>
            </a:xfrm>
            <a:custGeom>
              <a:avLst/>
              <a:gdLst/>
              <a:ahLst/>
              <a:cxnLst/>
              <a:rect r="r" b="b" t="t" l="l"/>
              <a:pathLst>
                <a:path h="1599946" w="8951849">
                  <a:moveTo>
                    <a:pt x="0" y="128016"/>
                  </a:moveTo>
                  <a:cubicBezTo>
                    <a:pt x="0" y="57277"/>
                    <a:pt x="57912" y="0"/>
                    <a:pt x="129286" y="0"/>
                  </a:cubicBezTo>
                  <a:lnTo>
                    <a:pt x="8822563" y="0"/>
                  </a:lnTo>
                  <a:cubicBezTo>
                    <a:pt x="8893937" y="0"/>
                    <a:pt x="8951849" y="57277"/>
                    <a:pt x="8951849" y="128016"/>
                  </a:cubicBezTo>
                  <a:lnTo>
                    <a:pt x="8951849" y="1471930"/>
                  </a:lnTo>
                  <a:cubicBezTo>
                    <a:pt x="8951849" y="1542669"/>
                    <a:pt x="8893937" y="1599946"/>
                    <a:pt x="8822563" y="1599946"/>
                  </a:cubicBezTo>
                  <a:lnTo>
                    <a:pt x="129286" y="1599946"/>
                  </a:lnTo>
                  <a:cubicBezTo>
                    <a:pt x="57912" y="1599946"/>
                    <a:pt x="0" y="1542669"/>
                    <a:pt x="0" y="147193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70899" cy="1618996"/>
            </a:xfrm>
            <a:custGeom>
              <a:avLst/>
              <a:gdLst/>
              <a:ahLst/>
              <a:cxnLst/>
              <a:rect r="r" b="b" t="t" l="l"/>
              <a:pathLst>
                <a:path h="1618996" w="8970899">
                  <a:moveTo>
                    <a:pt x="0" y="137541"/>
                  </a:moveTo>
                  <a:cubicBezTo>
                    <a:pt x="0" y="61468"/>
                    <a:pt x="62230" y="0"/>
                    <a:pt x="138811" y="0"/>
                  </a:cubicBezTo>
                  <a:lnTo>
                    <a:pt x="8832088" y="0"/>
                  </a:lnTo>
                  <a:lnTo>
                    <a:pt x="8832088" y="9525"/>
                  </a:lnTo>
                  <a:lnTo>
                    <a:pt x="8832088" y="0"/>
                  </a:lnTo>
                  <a:cubicBezTo>
                    <a:pt x="8908669" y="0"/>
                    <a:pt x="8970899" y="61468"/>
                    <a:pt x="8970899" y="137541"/>
                  </a:cubicBezTo>
                  <a:lnTo>
                    <a:pt x="8961374" y="137541"/>
                  </a:lnTo>
                  <a:lnTo>
                    <a:pt x="8970899" y="137541"/>
                  </a:lnTo>
                  <a:lnTo>
                    <a:pt x="8970899" y="1481455"/>
                  </a:lnTo>
                  <a:lnTo>
                    <a:pt x="8961374" y="1481455"/>
                  </a:lnTo>
                  <a:lnTo>
                    <a:pt x="8970899" y="1481455"/>
                  </a:lnTo>
                  <a:cubicBezTo>
                    <a:pt x="8970899" y="1557528"/>
                    <a:pt x="8908669" y="1618996"/>
                    <a:pt x="8832088" y="1618996"/>
                  </a:cubicBezTo>
                  <a:lnTo>
                    <a:pt x="8832088" y="1609471"/>
                  </a:lnTo>
                  <a:lnTo>
                    <a:pt x="8832088" y="1618996"/>
                  </a:lnTo>
                  <a:lnTo>
                    <a:pt x="138811" y="1618996"/>
                  </a:lnTo>
                  <a:lnTo>
                    <a:pt x="138811" y="1609471"/>
                  </a:lnTo>
                  <a:lnTo>
                    <a:pt x="138811" y="1618996"/>
                  </a:lnTo>
                  <a:cubicBezTo>
                    <a:pt x="62230" y="1618996"/>
                    <a:pt x="0" y="1557401"/>
                    <a:pt x="0" y="1481455"/>
                  </a:cubicBezTo>
                  <a:lnTo>
                    <a:pt x="0" y="137541"/>
                  </a:lnTo>
                  <a:lnTo>
                    <a:pt x="9525" y="137541"/>
                  </a:lnTo>
                  <a:lnTo>
                    <a:pt x="0" y="137541"/>
                  </a:lnTo>
                  <a:moveTo>
                    <a:pt x="19050" y="137541"/>
                  </a:moveTo>
                  <a:lnTo>
                    <a:pt x="19050" y="1481455"/>
                  </a:lnTo>
                  <a:lnTo>
                    <a:pt x="9525" y="1481455"/>
                  </a:lnTo>
                  <a:lnTo>
                    <a:pt x="19050" y="1481455"/>
                  </a:lnTo>
                  <a:cubicBezTo>
                    <a:pt x="19050" y="1546733"/>
                    <a:pt x="72517" y="1599946"/>
                    <a:pt x="138811" y="1599946"/>
                  </a:cubicBezTo>
                  <a:lnTo>
                    <a:pt x="8832088" y="1599946"/>
                  </a:lnTo>
                  <a:cubicBezTo>
                    <a:pt x="8898255" y="1599946"/>
                    <a:pt x="8951849" y="1546860"/>
                    <a:pt x="8951849" y="1481455"/>
                  </a:cubicBezTo>
                  <a:lnTo>
                    <a:pt x="8951849" y="137541"/>
                  </a:lnTo>
                  <a:cubicBezTo>
                    <a:pt x="8951849" y="72263"/>
                    <a:pt x="8898382" y="19050"/>
                    <a:pt x="8832088" y="19050"/>
                  </a:cubicBezTo>
                  <a:lnTo>
                    <a:pt x="138811" y="19050"/>
                  </a:lnTo>
                  <a:lnTo>
                    <a:pt x="138811" y="9525"/>
                  </a:lnTo>
                  <a:lnTo>
                    <a:pt x="138811" y="19050"/>
                  </a:lnTo>
                  <a:cubicBezTo>
                    <a:pt x="72517" y="19050"/>
                    <a:pt x="19050" y="72136"/>
                    <a:pt x="19050" y="137541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42078" y="6456693"/>
            <a:ext cx="6142425" cy="971360"/>
            <a:chOff x="0" y="0"/>
            <a:chExt cx="8189900" cy="12951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89900" cy="1295147"/>
            </a:xfrm>
            <a:custGeom>
              <a:avLst/>
              <a:gdLst/>
              <a:ahLst/>
              <a:cxnLst/>
              <a:rect r="r" b="b" t="t" l="l"/>
              <a:pathLst>
                <a:path h="1295147" w="8189900">
                  <a:moveTo>
                    <a:pt x="0" y="0"/>
                  </a:moveTo>
                  <a:lnTo>
                    <a:pt x="8189900" y="0"/>
                  </a:lnTo>
                  <a:lnTo>
                    <a:pt x="8189900" y="1295147"/>
                  </a:lnTo>
                  <a:lnTo>
                    <a:pt x="0" y="12951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8189900" cy="1399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6"/>
                </a:lnSpc>
              </a:pPr>
              <a:r>
                <a:rPr lang="en-US" sz="1687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TVK pulled from both sides equally —</a:t>
              </a:r>
            </a:p>
            <a:p>
              <a:pPr algn="l">
                <a:lnSpc>
                  <a:spcPts val="3036"/>
                </a:lnSpc>
              </a:pPr>
              <a:r>
                <a:rPr lang="en-US" sz="1687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not from one party alone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4232" y="7992294"/>
            <a:ext cx="16855954" cy="1000099"/>
            <a:chOff x="0" y="0"/>
            <a:chExt cx="22474606" cy="13334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474605" cy="1333466"/>
            </a:xfrm>
            <a:custGeom>
              <a:avLst/>
              <a:gdLst/>
              <a:ahLst/>
              <a:cxnLst/>
              <a:rect r="r" b="b" t="t" l="l"/>
              <a:pathLst>
                <a:path h="1333466" w="22474605">
                  <a:moveTo>
                    <a:pt x="0" y="0"/>
                  </a:moveTo>
                  <a:lnTo>
                    <a:pt x="22474605" y="0"/>
                  </a:lnTo>
                  <a:lnTo>
                    <a:pt x="22474605" y="1333466"/>
                  </a:lnTo>
                  <a:lnTo>
                    <a:pt x="0" y="1333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482" r="0" b="-2573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2474606" cy="134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19"/>
                </a:lnSpc>
                <a:spcBef>
                  <a:spcPct val="0"/>
                </a:spcBef>
              </a:pPr>
              <a:r>
                <a:rPr lang="en-US" sz="1349" strike="noStrike" u="non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Data insight: TVK entered the 2026 election with zero seats.</a:t>
              </a:r>
            </a:p>
            <a:p>
              <a:pPr algn="ctr" marL="0" indent="0" lvl="0">
                <a:lnSpc>
                  <a:spcPts val="1619"/>
                </a:lnSpc>
                <a:spcBef>
                  <a:spcPct val="0"/>
                </a:spcBef>
              </a:pPr>
              <a:r>
                <a:rPr lang="en-US" sz="1349" strike="noStrike" u="non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It absorbed from both the largest party (DMK) and the</a:t>
              </a:r>
            </a:p>
            <a:p>
              <a:pPr algn="ctr" marL="0" indent="0" lvl="0">
                <a:lnSpc>
                  <a:spcPts val="1619"/>
                </a:lnSpc>
                <a:spcBef>
                  <a:spcPct val="0"/>
                </a:spcBef>
              </a:pPr>
              <a:r>
                <a:rPr lang="en-US" sz="1349" strike="noStrike" u="non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second largest party (AIADMK) simultaneously. In seat count</a:t>
              </a:r>
            </a:p>
            <a:p>
              <a:pPr algn="ctr" marL="0" indent="0" lvl="0">
                <a:lnSpc>
                  <a:spcPts val="1619"/>
                </a:lnSpc>
                <a:spcBef>
                  <a:spcPct val="0"/>
                </a:spcBef>
              </a:pPr>
              <a:r>
                <a:rPr lang="en-US" sz="1349" strike="noStrike" u="non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terms this is the fastest rise from zero in the state's data record.</a:t>
              </a:r>
            </a:p>
            <a:p>
              <a:pPr algn="ctr" marL="0" indent="0" lvl="0">
                <a:lnSpc>
                  <a:spcPts val="1619"/>
                </a:lnSpc>
                <a:spcBef>
                  <a:spcPct val="0"/>
                </a:spcBef>
              </a:pPr>
              <a:r>
                <a:rPr lang="en-US" sz="1349" strike="noStrike" u="non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DMK: 133 seats in 2021 → 59 seats in 2026 · AIADMK: 88 seats → 47 seats · TVK: 0 seats → 108 seats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2856235" cy="571386"/>
            <a:chOff x="0" y="0"/>
            <a:chExt cx="17141647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761851"/>
            </a:xfrm>
            <a:custGeom>
              <a:avLst/>
              <a:gdLst/>
              <a:ahLst/>
              <a:cxnLst/>
              <a:rect r="r" b="b" t="t" l="l"/>
              <a:pathLst>
                <a:path h="761851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141647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The Wave Was Statewide. But Not Uniform.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Q2 · Regional flip rates across Tamil Nadu's 6 regions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4232" y="3999719"/>
            <a:ext cx="8713670" cy="1142781"/>
            <a:chOff x="0" y="0"/>
            <a:chExt cx="11618227" cy="1523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8231" cy="1523702"/>
            </a:xfrm>
            <a:custGeom>
              <a:avLst/>
              <a:gdLst/>
              <a:ahLst/>
              <a:cxnLst/>
              <a:rect r="r" b="b" t="t" l="l"/>
              <a:pathLst>
                <a:path h="1523702" w="11618231">
                  <a:moveTo>
                    <a:pt x="0" y="0"/>
                  </a:moveTo>
                  <a:lnTo>
                    <a:pt x="11618231" y="0"/>
                  </a:lnTo>
                  <a:lnTo>
                    <a:pt x="11618231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618227" cy="153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i="true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page1_regional.png</a:t>
              </a:r>
            </a:p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Insert regional flip rate chart here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56451" y="1571320"/>
            <a:ext cx="1999859" cy="342833"/>
            <a:chOff x="0" y="0"/>
            <a:chExt cx="2666479" cy="457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Chennai Metro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56310" y="1571320"/>
            <a:ext cx="714232" cy="342833"/>
            <a:chOff x="0" y="0"/>
            <a:chExt cx="952310" cy="457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94%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13389" y="1657026"/>
            <a:ext cx="4571105" cy="171412"/>
            <a:chOff x="0" y="0"/>
            <a:chExt cx="6094806" cy="228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4857" cy="228600"/>
            </a:xfrm>
            <a:custGeom>
              <a:avLst/>
              <a:gdLst/>
              <a:ahLst/>
              <a:cxnLst/>
              <a:rect r="r" b="b" t="t" l="l"/>
              <a:pathLst>
                <a:path h="228600" w="6094857">
                  <a:moveTo>
                    <a:pt x="0" y="0"/>
                  </a:moveTo>
                  <a:lnTo>
                    <a:pt x="6094857" y="0"/>
                  </a:lnTo>
                  <a:lnTo>
                    <a:pt x="6094857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856451" y="2114140"/>
            <a:ext cx="1999859" cy="342833"/>
            <a:chOff x="0" y="0"/>
            <a:chExt cx="2666479" cy="457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Kongu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56310" y="2114140"/>
            <a:ext cx="714232" cy="342833"/>
            <a:chOff x="0" y="0"/>
            <a:chExt cx="952310" cy="457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82%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13389" y="2199846"/>
            <a:ext cx="3999719" cy="171412"/>
            <a:chOff x="0" y="0"/>
            <a:chExt cx="5332959" cy="2285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2984" cy="228600"/>
            </a:xfrm>
            <a:custGeom>
              <a:avLst/>
              <a:gdLst/>
              <a:ahLst/>
              <a:cxnLst/>
              <a:rect r="r" b="b" t="t" l="l"/>
              <a:pathLst>
                <a:path h="228600" w="5332984">
                  <a:moveTo>
                    <a:pt x="0" y="0"/>
                  </a:moveTo>
                  <a:lnTo>
                    <a:pt x="5332984" y="0"/>
                  </a:lnTo>
                  <a:lnTo>
                    <a:pt x="5332984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>
                <a:alpha val="6392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56451" y="2656961"/>
            <a:ext cx="1999859" cy="342833"/>
            <a:chOff x="0" y="0"/>
            <a:chExt cx="2666479" cy="457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North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56310" y="2656961"/>
            <a:ext cx="714232" cy="342833"/>
            <a:chOff x="0" y="0"/>
            <a:chExt cx="952310" cy="457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73%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13389" y="2742667"/>
            <a:ext cx="3571180" cy="171412"/>
            <a:chOff x="0" y="0"/>
            <a:chExt cx="4761573" cy="2285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61611" cy="228600"/>
            </a:xfrm>
            <a:custGeom>
              <a:avLst/>
              <a:gdLst/>
              <a:ahLst/>
              <a:cxnLst/>
              <a:rect r="r" b="b" t="t" l="l"/>
              <a:pathLst>
                <a:path h="228600" w="4761611">
                  <a:moveTo>
                    <a:pt x="0" y="0"/>
                  </a:moveTo>
                  <a:lnTo>
                    <a:pt x="4761611" y="0"/>
                  </a:lnTo>
                  <a:lnTo>
                    <a:pt x="4761611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>
                <a:alpha val="4431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56451" y="3199771"/>
            <a:ext cx="1999859" cy="342833"/>
            <a:chOff x="0" y="0"/>
            <a:chExt cx="2666479" cy="457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South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56310" y="3199771"/>
            <a:ext cx="714232" cy="342833"/>
            <a:chOff x="0" y="0"/>
            <a:chExt cx="952310" cy="457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66%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13389" y="3285487"/>
            <a:ext cx="3214059" cy="171412"/>
            <a:chOff x="0" y="0"/>
            <a:chExt cx="4285412" cy="2285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85361" cy="228600"/>
            </a:xfrm>
            <a:custGeom>
              <a:avLst/>
              <a:gdLst/>
              <a:ahLst/>
              <a:cxnLst/>
              <a:rect r="r" b="b" t="t" l="l"/>
              <a:pathLst>
                <a:path h="228600" w="4285361">
                  <a:moveTo>
                    <a:pt x="0" y="0"/>
                  </a:moveTo>
                  <a:lnTo>
                    <a:pt x="4285361" y="0"/>
                  </a:lnTo>
                  <a:lnTo>
                    <a:pt x="4285361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>
                <a:alpha val="28235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56451" y="3742592"/>
            <a:ext cx="1999859" cy="342833"/>
            <a:chOff x="0" y="0"/>
            <a:chExt cx="2666479" cy="4571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Central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56310" y="3742592"/>
            <a:ext cx="714232" cy="342833"/>
            <a:chOff x="0" y="0"/>
            <a:chExt cx="952310" cy="4571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63%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713389" y="3828298"/>
            <a:ext cx="3071212" cy="171412"/>
            <a:chOff x="0" y="0"/>
            <a:chExt cx="4094950" cy="22854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94988" cy="228600"/>
            </a:xfrm>
            <a:custGeom>
              <a:avLst/>
              <a:gdLst/>
              <a:ahLst/>
              <a:cxnLst/>
              <a:rect r="r" b="b" t="t" l="l"/>
              <a:pathLst>
                <a:path h="228600" w="4094988">
                  <a:moveTo>
                    <a:pt x="0" y="0"/>
                  </a:moveTo>
                  <a:lnTo>
                    <a:pt x="4094988" y="0"/>
                  </a:lnTo>
                  <a:lnTo>
                    <a:pt x="4094988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>
                <a:alpha val="15686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56451" y="4285412"/>
            <a:ext cx="1999859" cy="342833"/>
            <a:chOff x="0" y="0"/>
            <a:chExt cx="2666479" cy="4571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66479" cy="457111"/>
            </a:xfrm>
            <a:custGeom>
              <a:avLst/>
              <a:gdLst/>
              <a:ahLst/>
              <a:cxnLst/>
              <a:rect r="r" b="b" t="t" l="l"/>
              <a:pathLst>
                <a:path h="45711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6664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Delta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56310" y="4285412"/>
            <a:ext cx="714232" cy="342833"/>
            <a:chOff x="0" y="0"/>
            <a:chExt cx="952310" cy="4571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2314" cy="457111"/>
            </a:xfrm>
            <a:custGeom>
              <a:avLst/>
              <a:gdLst/>
              <a:ahLst/>
              <a:cxnLst/>
              <a:rect r="r" b="b" t="t" l="l"/>
              <a:pathLst>
                <a:path h="45711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586" t="0" r="-1158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52310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45%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713389" y="4371118"/>
            <a:ext cx="2199846" cy="171412"/>
            <a:chOff x="0" y="0"/>
            <a:chExt cx="2933128" cy="2285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33065" cy="228600"/>
            </a:xfrm>
            <a:custGeom>
              <a:avLst/>
              <a:gdLst/>
              <a:ahLst/>
              <a:cxnLst/>
              <a:rect r="r" b="b" t="t" l="l"/>
              <a:pathLst>
                <a:path h="228600" w="2933065">
                  <a:moveTo>
                    <a:pt x="0" y="0"/>
                  </a:moveTo>
                  <a:lnTo>
                    <a:pt x="2933065" y="0"/>
                  </a:lnTo>
                  <a:lnTo>
                    <a:pt x="2933065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7722">
                <a:alpha val="7059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713389" y="4713951"/>
            <a:ext cx="4571105" cy="285693"/>
            <a:chOff x="0" y="0"/>
            <a:chExt cx="6094806" cy="3809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4810" cy="380926"/>
            </a:xfrm>
            <a:custGeom>
              <a:avLst/>
              <a:gdLst/>
              <a:ahLst/>
              <a:cxnLst/>
              <a:rect r="r" b="b" t="t" l="l"/>
              <a:pathLst>
                <a:path h="380926" w="6094810">
                  <a:moveTo>
                    <a:pt x="0" y="0"/>
                  </a:moveTo>
                  <a:lnTo>
                    <a:pt x="6094810" y="0"/>
                  </a:lnTo>
                  <a:lnTo>
                    <a:pt x="6094810" y="380926"/>
                  </a:lnTo>
                  <a:lnTo>
                    <a:pt x="0" y="380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6094806" cy="390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State average: 69.7%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49307" y="5278203"/>
            <a:ext cx="3728314" cy="1499892"/>
            <a:chOff x="0" y="0"/>
            <a:chExt cx="4971085" cy="19998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9525" y="9525"/>
              <a:ext cx="4951984" cy="1980819"/>
            </a:xfrm>
            <a:custGeom>
              <a:avLst/>
              <a:gdLst/>
              <a:ahLst/>
              <a:cxnLst/>
              <a:rect r="r" b="b" t="t" l="l"/>
              <a:pathLst>
                <a:path h="1980819" w="4951984">
                  <a:moveTo>
                    <a:pt x="0" y="158496"/>
                  </a:moveTo>
                  <a:cubicBezTo>
                    <a:pt x="0" y="70993"/>
                    <a:pt x="71374" y="0"/>
                    <a:pt x="159385" y="0"/>
                  </a:cubicBezTo>
                  <a:lnTo>
                    <a:pt x="4792599" y="0"/>
                  </a:lnTo>
                  <a:cubicBezTo>
                    <a:pt x="4880610" y="0"/>
                    <a:pt x="4951984" y="70993"/>
                    <a:pt x="4951984" y="158496"/>
                  </a:cubicBezTo>
                  <a:lnTo>
                    <a:pt x="4951984" y="1822323"/>
                  </a:lnTo>
                  <a:cubicBezTo>
                    <a:pt x="4951984" y="1909826"/>
                    <a:pt x="4880610" y="1980819"/>
                    <a:pt x="4792599" y="1980819"/>
                  </a:cubicBezTo>
                  <a:lnTo>
                    <a:pt x="159385" y="1980819"/>
                  </a:lnTo>
                  <a:cubicBezTo>
                    <a:pt x="71374" y="1980819"/>
                    <a:pt x="0" y="1909826"/>
                    <a:pt x="0" y="1822323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71034" cy="1999869"/>
            </a:xfrm>
            <a:custGeom>
              <a:avLst/>
              <a:gdLst/>
              <a:ahLst/>
              <a:cxnLst/>
              <a:rect r="r" b="b" t="t" l="l"/>
              <a:pathLst>
                <a:path h="1999869" w="4971034">
                  <a:moveTo>
                    <a:pt x="0" y="168021"/>
                  </a:moveTo>
                  <a:cubicBezTo>
                    <a:pt x="0" y="75184"/>
                    <a:pt x="75692" y="0"/>
                    <a:pt x="168910" y="0"/>
                  </a:cubicBezTo>
                  <a:lnTo>
                    <a:pt x="4802124" y="0"/>
                  </a:lnTo>
                  <a:lnTo>
                    <a:pt x="4802124" y="9525"/>
                  </a:lnTo>
                  <a:lnTo>
                    <a:pt x="4802124" y="0"/>
                  </a:lnTo>
                  <a:cubicBezTo>
                    <a:pt x="4895342" y="0"/>
                    <a:pt x="4971034" y="75184"/>
                    <a:pt x="4971034" y="168021"/>
                  </a:cubicBezTo>
                  <a:lnTo>
                    <a:pt x="4961509" y="168021"/>
                  </a:lnTo>
                  <a:lnTo>
                    <a:pt x="4971034" y="168021"/>
                  </a:lnTo>
                  <a:lnTo>
                    <a:pt x="4971034" y="1831848"/>
                  </a:lnTo>
                  <a:lnTo>
                    <a:pt x="4961509" y="1831848"/>
                  </a:lnTo>
                  <a:lnTo>
                    <a:pt x="4971034" y="1831848"/>
                  </a:lnTo>
                  <a:cubicBezTo>
                    <a:pt x="4971034" y="1924685"/>
                    <a:pt x="4895342" y="1999869"/>
                    <a:pt x="4802124" y="1999869"/>
                  </a:cubicBezTo>
                  <a:lnTo>
                    <a:pt x="4802124" y="1990344"/>
                  </a:lnTo>
                  <a:lnTo>
                    <a:pt x="4802124" y="1999869"/>
                  </a:lnTo>
                  <a:lnTo>
                    <a:pt x="168910" y="1999869"/>
                  </a:lnTo>
                  <a:lnTo>
                    <a:pt x="168910" y="1990344"/>
                  </a:lnTo>
                  <a:lnTo>
                    <a:pt x="168910" y="1999869"/>
                  </a:lnTo>
                  <a:cubicBezTo>
                    <a:pt x="75692" y="1999869"/>
                    <a:pt x="0" y="1924685"/>
                    <a:pt x="0" y="1831848"/>
                  </a:cubicBezTo>
                  <a:lnTo>
                    <a:pt x="0" y="168021"/>
                  </a:lnTo>
                  <a:lnTo>
                    <a:pt x="9525" y="168021"/>
                  </a:lnTo>
                  <a:lnTo>
                    <a:pt x="0" y="168021"/>
                  </a:lnTo>
                  <a:moveTo>
                    <a:pt x="19050" y="168021"/>
                  </a:moveTo>
                  <a:lnTo>
                    <a:pt x="19050" y="1831848"/>
                  </a:lnTo>
                  <a:lnTo>
                    <a:pt x="9525" y="1831848"/>
                  </a:lnTo>
                  <a:lnTo>
                    <a:pt x="19050" y="1831848"/>
                  </a:lnTo>
                  <a:cubicBezTo>
                    <a:pt x="19050" y="1914017"/>
                    <a:pt x="86106" y="1980819"/>
                    <a:pt x="168910" y="1980819"/>
                  </a:cubicBezTo>
                  <a:lnTo>
                    <a:pt x="4802124" y="1980819"/>
                  </a:lnTo>
                  <a:cubicBezTo>
                    <a:pt x="4884928" y="1980819"/>
                    <a:pt x="4951984" y="1914144"/>
                    <a:pt x="4951984" y="1831848"/>
                  </a:cubicBezTo>
                  <a:lnTo>
                    <a:pt x="4951984" y="168021"/>
                  </a:lnTo>
                  <a:cubicBezTo>
                    <a:pt x="4951984" y="85852"/>
                    <a:pt x="4884928" y="19050"/>
                    <a:pt x="4802124" y="19050"/>
                  </a:cubicBezTo>
                  <a:lnTo>
                    <a:pt x="168910" y="19050"/>
                  </a:lnTo>
                  <a:lnTo>
                    <a:pt x="168910" y="9525"/>
                  </a:lnTo>
                  <a:lnTo>
                    <a:pt x="168910" y="19050"/>
                  </a:lnTo>
                  <a:cubicBezTo>
                    <a:pt x="86106" y="19050"/>
                    <a:pt x="19050" y="85725"/>
                    <a:pt x="19050" y="168021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99297" y="5342477"/>
            <a:ext cx="3428333" cy="1399899"/>
            <a:chOff x="0" y="0"/>
            <a:chExt cx="4571111" cy="18665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1107" cy="1866535"/>
            </a:xfrm>
            <a:custGeom>
              <a:avLst/>
              <a:gdLst/>
              <a:ahLst/>
              <a:cxnLst/>
              <a:rect r="r" b="b" t="t" l="l"/>
              <a:pathLst>
                <a:path h="1866535" w="4571107">
                  <a:moveTo>
                    <a:pt x="0" y="0"/>
                  </a:moveTo>
                  <a:lnTo>
                    <a:pt x="4571107" y="0"/>
                  </a:lnTo>
                  <a:lnTo>
                    <a:pt x="4571107" y="1866535"/>
                  </a:lnTo>
                  <a:lnTo>
                    <a:pt x="0" y="18665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90" t="0" r="-239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0"/>
              <a:ext cx="4571111" cy="1961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Strongest wave</a:t>
              </a:r>
            </a:p>
            <a:p>
              <a:pPr algn="l">
                <a:lnSpc>
                  <a:spcPts val="2631"/>
                </a:lnSpc>
              </a:pP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Chennai Metro: 94% of seats changed hands</a:t>
              </a:r>
            </a:p>
            <a:p>
              <a:pPr algn="l">
                <a:lnSpc>
                  <a:spcPts val="2631"/>
                </a:lnSpc>
              </a:pP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29 of 32 constituencies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49026" y="5278203"/>
            <a:ext cx="3728314" cy="1442752"/>
            <a:chOff x="0" y="0"/>
            <a:chExt cx="4971085" cy="192366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9525" y="9525"/>
              <a:ext cx="4951984" cy="1904619"/>
            </a:xfrm>
            <a:custGeom>
              <a:avLst/>
              <a:gdLst/>
              <a:ahLst/>
              <a:cxnLst/>
              <a:rect r="r" b="b" t="t" l="l"/>
              <a:pathLst>
                <a:path h="1904619" w="4951984">
                  <a:moveTo>
                    <a:pt x="0" y="152400"/>
                  </a:moveTo>
                  <a:cubicBezTo>
                    <a:pt x="0" y="68199"/>
                    <a:pt x="68580" y="0"/>
                    <a:pt x="153289" y="0"/>
                  </a:cubicBezTo>
                  <a:lnTo>
                    <a:pt x="4798695" y="0"/>
                  </a:lnTo>
                  <a:cubicBezTo>
                    <a:pt x="4883404" y="0"/>
                    <a:pt x="4951984" y="68199"/>
                    <a:pt x="4951984" y="152400"/>
                  </a:cubicBezTo>
                  <a:lnTo>
                    <a:pt x="4951984" y="1752219"/>
                  </a:lnTo>
                  <a:cubicBezTo>
                    <a:pt x="4951984" y="1836420"/>
                    <a:pt x="4883404" y="1904619"/>
                    <a:pt x="4798695" y="1904619"/>
                  </a:cubicBezTo>
                  <a:lnTo>
                    <a:pt x="153289" y="1904619"/>
                  </a:lnTo>
                  <a:cubicBezTo>
                    <a:pt x="68580" y="1904619"/>
                    <a:pt x="0" y="1836420"/>
                    <a:pt x="0" y="175221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71034" cy="1923669"/>
            </a:xfrm>
            <a:custGeom>
              <a:avLst/>
              <a:gdLst/>
              <a:ahLst/>
              <a:cxnLst/>
              <a:rect r="r" b="b" t="t" l="l"/>
              <a:pathLst>
                <a:path h="1923669" w="4971034">
                  <a:moveTo>
                    <a:pt x="0" y="161925"/>
                  </a:moveTo>
                  <a:cubicBezTo>
                    <a:pt x="0" y="72390"/>
                    <a:pt x="72898" y="0"/>
                    <a:pt x="162814" y="0"/>
                  </a:cubicBezTo>
                  <a:lnTo>
                    <a:pt x="4808220" y="0"/>
                  </a:lnTo>
                  <a:lnTo>
                    <a:pt x="4808220" y="9525"/>
                  </a:lnTo>
                  <a:lnTo>
                    <a:pt x="4808220" y="0"/>
                  </a:lnTo>
                  <a:cubicBezTo>
                    <a:pt x="4898136" y="0"/>
                    <a:pt x="4971034" y="72390"/>
                    <a:pt x="4971034" y="161925"/>
                  </a:cubicBezTo>
                  <a:lnTo>
                    <a:pt x="4961509" y="161925"/>
                  </a:lnTo>
                  <a:lnTo>
                    <a:pt x="4971034" y="161925"/>
                  </a:lnTo>
                  <a:lnTo>
                    <a:pt x="4971034" y="1761744"/>
                  </a:lnTo>
                  <a:lnTo>
                    <a:pt x="4961509" y="1761744"/>
                  </a:lnTo>
                  <a:lnTo>
                    <a:pt x="4971034" y="1761744"/>
                  </a:lnTo>
                  <a:cubicBezTo>
                    <a:pt x="4971034" y="1851152"/>
                    <a:pt x="4898136" y="1923669"/>
                    <a:pt x="4808220" y="1923669"/>
                  </a:cubicBezTo>
                  <a:lnTo>
                    <a:pt x="4808220" y="1914144"/>
                  </a:lnTo>
                  <a:lnTo>
                    <a:pt x="4808220" y="1923669"/>
                  </a:lnTo>
                  <a:lnTo>
                    <a:pt x="162814" y="1923669"/>
                  </a:lnTo>
                  <a:lnTo>
                    <a:pt x="162814" y="1914144"/>
                  </a:lnTo>
                  <a:lnTo>
                    <a:pt x="162814" y="1923669"/>
                  </a:lnTo>
                  <a:cubicBezTo>
                    <a:pt x="72898" y="1923669"/>
                    <a:pt x="0" y="1851279"/>
                    <a:pt x="0" y="1761744"/>
                  </a:cubicBezTo>
                  <a:lnTo>
                    <a:pt x="0" y="161925"/>
                  </a:lnTo>
                  <a:lnTo>
                    <a:pt x="9525" y="161925"/>
                  </a:lnTo>
                  <a:lnTo>
                    <a:pt x="0" y="161925"/>
                  </a:lnTo>
                  <a:moveTo>
                    <a:pt x="19050" y="161925"/>
                  </a:moveTo>
                  <a:lnTo>
                    <a:pt x="19050" y="1761744"/>
                  </a:lnTo>
                  <a:lnTo>
                    <a:pt x="9525" y="1761744"/>
                  </a:lnTo>
                  <a:lnTo>
                    <a:pt x="19050" y="1761744"/>
                  </a:lnTo>
                  <a:cubicBezTo>
                    <a:pt x="19050" y="1840611"/>
                    <a:pt x="83312" y="1904619"/>
                    <a:pt x="162814" y="1904619"/>
                  </a:cubicBezTo>
                  <a:lnTo>
                    <a:pt x="4808220" y="1904619"/>
                  </a:lnTo>
                  <a:cubicBezTo>
                    <a:pt x="4887722" y="1904619"/>
                    <a:pt x="4951984" y="1840611"/>
                    <a:pt x="4951984" y="1761744"/>
                  </a:cubicBezTo>
                  <a:lnTo>
                    <a:pt x="4951984" y="161925"/>
                  </a:lnTo>
                  <a:cubicBezTo>
                    <a:pt x="4951984" y="83058"/>
                    <a:pt x="4887722" y="19050"/>
                    <a:pt x="4808220" y="19050"/>
                  </a:cubicBezTo>
                  <a:lnTo>
                    <a:pt x="162814" y="19050"/>
                  </a:lnTo>
                  <a:lnTo>
                    <a:pt x="162814" y="9525"/>
                  </a:lnTo>
                  <a:lnTo>
                    <a:pt x="162814" y="19050"/>
                  </a:lnTo>
                  <a:cubicBezTo>
                    <a:pt x="83312" y="19050"/>
                    <a:pt x="19050" y="83058"/>
                    <a:pt x="19050" y="16192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999016" y="5342477"/>
            <a:ext cx="3428333" cy="1314193"/>
            <a:chOff x="0" y="0"/>
            <a:chExt cx="4571111" cy="17522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71107" cy="1752258"/>
            </a:xfrm>
            <a:custGeom>
              <a:avLst/>
              <a:gdLst/>
              <a:ahLst/>
              <a:cxnLst/>
              <a:rect r="r" b="b" t="t" l="l"/>
              <a:pathLst>
                <a:path h="1752258" w="4571107">
                  <a:moveTo>
                    <a:pt x="0" y="0"/>
                  </a:moveTo>
                  <a:lnTo>
                    <a:pt x="4571107" y="0"/>
                  </a:lnTo>
                  <a:lnTo>
                    <a:pt x="4571107" y="1752258"/>
                  </a:lnTo>
                  <a:lnTo>
                    <a:pt x="0" y="17522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0"/>
              <a:ext cx="4571111" cy="1847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8B95A5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Most resistant region</a:t>
              </a:r>
            </a:p>
            <a:p>
              <a:pPr algn="l">
                <a:lnSpc>
                  <a:spcPts val="2631"/>
                </a:lnSpc>
              </a:pP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Delta: only 45% of seats changed hands</a:t>
              </a:r>
            </a:p>
            <a:p>
              <a:pPr algn="l">
                <a:lnSpc>
                  <a:spcPts val="2631"/>
                </a:lnSpc>
              </a:pP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5 of 11 constituencies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360942" y="2393930"/>
            <a:ext cx="8781267" cy="3874883"/>
          </a:xfrm>
          <a:custGeom>
            <a:avLst/>
            <a:gdLst/>
            <a:ahLst/>
            <a:cxnLst/>
            <a:rect r="r" b="b" t="t" l="l"/>
            <a:pathLst>
              <a:path h="3874883" w="8781267">
                <a:moveTo>
                  <a:pt x="0" y="0"/>
                </a:moveTo>
                <a:lnTo>
                  <a:pt x="8781267" y="0"/>
                </a:lnTo>
                <a:lnTo>
                  <a:pt x="8781267" y="3874883"/>
                </a:lnTo>
                <a:lnTo>
                  <a:pt x="0" y="3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1" t="-178" r="-1741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714232" y="7642308"/>
            <a:ext cx="16855954" cy="937234"/>
            <a:chOff x="0" y="0"/>
            <a:chExt cx="22474606" cy="12496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474605" cy="1249645"/>
            </a:xfrm>
            <a:custGeom>
              <a:avLst/>
              <a:gdLst/>
              <a:ahLst/>
              <a:cxnLst/>
              <a:rect r="r" b="b" t="t" l="l"/>
              <a:pathLst>
                <a:path h="1249645" w="22474605">
                  <a:moveTo>
                    <a:pt x="0" y="0"/>
                  </a:moveTo>
                  <a:lnTo>
                    <a:pt x="22474605" y="0"/>
                  </a:lnTo>
                  <a:lnTo>
                    <a:pt x="22474605" y="1249645"/>
                  </a:lnTo>
                  <a:lnTo>
                    <a:pt x="0" y="1249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520" r="0" b="-29234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22474606" cy="1344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1574" i="true" strike="noStrike" u="none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Data note: Chennai Metro recorded the highest flip rate (94%) of any</a:t>
              </a:r>
            </a:p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1574" i="true" strike="noStrike" u="none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region. Delta recorded the lowest (45%). The 49-point gap between</a:t>
              </a:r>
            </a:p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1574" i="true" strike="noStrike" u="none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them is the widest regional divergence in this dataset.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4284709" cy="571386"/>
            <a:chOff x="0" y="0"/>
            <a:chExt cx="19046279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46279" cy="761851"/>
            </a:xfrm>
            <a:custGeom>
              <a:avLst/>
              <a:gdLst/>
              <a:ahLst/>
              <a:cxnLst/>
              <a:rect r="r" b="b" t="t" l="l"/>
              <a:pathLst>
                <a:path h="761851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6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046279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Story 2: Reserved Seats Told the Exact Same Story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4284709" cy="314268"/>
            <a:chOff x="0" y="0"/>
            <a:chExt cx="19046279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279" cy="419018"/>
            </a:xfrm>
            <a:custGeom>
              <a:avLst/>
              <a:gdLst/>
              <a:ahLst/>
              <a:cxnLst/>
              <a:rect r="r" b="b" t="t" l="l"/>
              <a:pathLst>
                <a:path h="419018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5682" r="0" b="-83568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9046279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Q4 · The Reserved Seat Verdict · 44 SC seats + 2 ST seats + 188 GEN seats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99859" y="1999859"/>
            <a:ext cx="14284709" cy="1285627"/>
            <a:chOff x="0" y="0"/>
            <a:chExt cx="19046279" cy="1714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46279" cy="1714165"/>
            </a:xfrm>
            <a:custGeom>
              <a:avLst/>
              <a:gdLst/>
              <a:ahLst/>
              <a:cxnLst/>
              <a:rect r="r" b="b" t="t" l="l"/>
              <a:pathLst>
                <a:path h="1714165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714165"/>
                  </a:lnTo>
                  <a:lnTo>
                    <a:pt x="0" y="17141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19046279" cy="1866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90"/>
                </a:lnSpc>
              </a:pPr>
              <a:r>
                <a:rPr lang="en-US" sz="314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Did the 44 reserved constituencies</a:t>
              </a:r>
            </a:p>
            <a:p>
              <a:pPr algn="ctr">
                <a:lnSpc>
                  <a:spcPts val="5290"/>
                </a:lnSpc>
              </a:pPr>
              <a:r>
                <a:rPr lang="en-US" sz="314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flip differently from general seats?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99859" y="3428333"/>
            <a:ext cx="14284709" cy="857079"/>
            <a:chOff x="0" y="0"/>
            <a:chExt cx="19046279" cy="11427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46279" cy="1142777"/>
            </a:xfrm>
            <a:custGeom>
              <a:avLst/>
              <a:gdLst/>
              <a:ahLst/>
              <a:cxnLst/>
              <a:rect r="r" b="b" t="t" l="l"/>
              <a:pathLst>
                <a:path h="1142777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46279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28"/>
                </a:lnSpc>
              </a:pPr>
              <a:r>
                <a:rPr lang="en-US" sz="42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No. The difference was 0.8 percentage points.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21190" y="4706807"/>
            <a:ext cx="5156778" cy="2014147"/>
            <a:chOff x="0" y="0"/>
            <a:chExt cx="6875704" cy="26855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9525"/>
              <a:ext cx="6856603" cy="2666492"/>
            </a:xfrm>
            <a:custGeom>
              <a:avLst/>
              <a:gdLst/>
              <a:ahLst/>
              <a:cxnLst/>
              <a:rect r="r" b="b" t="t" l="l"/>
              <a:pathLst>
                <a:path h="2666492" w="6856603">
                  <a:moveTo>
                    <a:pt x="0" y="213360"/>
                  </a:moveTo>
                  <a:cubicBezTo>
                    <a:pt x="0" y="95504"/>
                    <a:pt x="95885" y="0"/>
                    <a:pt x="214249" y="0"/>
                  </a:cubicBezTo>
                  <a:lnTo>
                    <a:pt x="6642354" y="0"/>
                  </a:lnTo>
                  <a:cubicBezTo>
                    <a:pt x="6760718" y="0"/>
                    <a:pt x="6856603" y="95504"/>
                    <a:pt x="6856603" y="213360"/>
                  </a:cubicBezTo>
                  <a:lnTo>
                    <a:pt x="6856603" y="2453132"/>
                  </a:lnTo>
                  <a:cubicBezTo>
                    <a:pt x="6856603" y="2570988"/>
                    <a:pt x="6760718" y="2666492"/>
                    <a:pt x="6642354" y="2666492"/>
                  </a:cubicBezTo>
                  <a:lnTo>
                    <a:pt x="214249" y="2666492"/>
                  </a:lnTo>
                  <a:cubicBezTo>
                    <a:pt x="95885" y="2666492"/>
                    <a:pt x="0" y="2570988"/>
                    <a:pt x="0" y="245313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75653" cy="2685542"/>
            </a:xfrm>
            <a:custGeom>
              <a:avLst/>
              <a:gdLst/>
              <a:ahLst/>
              <a:cxnLst/>
              <a:rect r="r" b="b" t="t" l="l"/>
              <a:pathLst>
                <a:path h="2685542" w="6875653">
                  <a:moveTo>
                    <a:pt x="0" y="222885"/>
                  </a:moveTo>
                  <a:cubicBezTo>
                    <a:pt x="0" y="99695"/>
                    <a:pt x="100203" y="0"/>
                    <a:pt x="223774" y="0"/>
                  </a:cubicBezTo>
                  <a:lnTo>
                    <a:pt x="6651879" y="0"/>
                  </a:lnTo>
                  <a:lnTo>
                    <a:pt x="6651879" y="9525"/>
                  </a:lnTo>
                  <a:lnTo>
                    <a:pt x="6651879" y="0"/>
                  </a:lnTo>
                  <a:cubicBezTo>
                    <a:pt x="6775450" y="0"/>
                    <a:pt x="6875653" y="99695"/>
                    <a:pt x="6875653" y="222885"/>
                  </a:cubicBezTo>
                  <a:lnTo>
                    <a:pt x="6866128" y="222885"/>
                  </a:lnTo>
                  <a:lnTo>
                    <a:pt x="6875653" y="222885"/>
                  </a:lnTo>
                  <a:lnTo>
                    <a:pt x="6875653" y="2462657"/>
                  </a:lnTo>
                  <a:lnTo>
                    <a:pt x="6866128" y="2462657"/>
                  </a:lnTo>
                  <a:lnTo>
                    <a:pt x="6875653" y="2462657"/>
                  </a:lnTo>
                  <a:cubicBezTo>
                    <a:pt x="6875653" y="2585720"/>
                    <a:pt x="6775450" y="2685542"/>
                    <a:pt x="6651879" y="2685542"/>
                  </a:cubicBezTo>
                  <a:lnTo>
                    <a:pt x="6651879" y="2676017"/>
                  </a:lnTo>
                  <a:lnTo>
                    <a:pt x="6651879" y="2685542"/>
                  </a:lnTo>
                  <a:lnTo>
                    <a:pt x="223774" y="2685542"/>
                  </a:lnTo>
                  <a:lnTo>
                    <a:pt x="223774" y="2676017"/>
                  </a:lnTo>
                  <a:lnTo>
                    <a:pt x="223774" y="2685542"/>
                  </a:lnTo>
                  <a:cubicBezTo>
                    <a:pt x="100203" y="2685542"/>
                    <a:pt x="0" y="2585847"/>
                    <a:pt x="0" y="2462657"/>
                  </a:cubicBezTo>
                  <a:lnTo>
                    <a:pt x="0" y="222885"/>
                  </a:lnTo>
                  <a:lnTo>
                    <a:pt x="9525" y="222885"/>
                  </a:lnTo>
                  <a:lnTo>
                    <a:pt x="0" y="222885"/>
                  </a:lnTo>
                  <a:moveTo>
                    <a:pt x="19050" y="222885"/>
                  </a:moveTo>
                  <a:lnTo>
                    <a:pt x="19050" y="2462657"/>
                  </a:lnTo>
                  <a:lnTo>
                    <a:pt x="9525" y="2462657"/>
                  </a:lnTo>
                  <a:lnTo>
                    <a:pt x="19050" y="2462657"/>
                  </a:lnTo>
                  <a:cubicBezTo>
                    <a:pt x="19050" y="2575179"/>
                    <a:pt x="110617" y="2666492"/>
                    <a:pt x="223774" y="2666492"/>
                  </a:cubicBezTo>
                  <a:lnTo>
                    <a:pt x="6651879" y="2666492"/>
                  </a:lnTo>
                  <a:cubicBezTo>
                    <a:pt x="6765036" y="2666492"/>
                    <a:pt x="6856603" y="2575179"/>
                    <a:pt x="6856603" y="2462657"/>
                  </a:cubicBezTo>
                  <a:lnTo>
                    <a:pt x="6856603" y="222885"/>
                  </a:lnTo>
                  <a:cubicBezTo>
                    <a:pt x="6856603" y="110363"/>
                    <a:pt x="6765036" y="19050"/>
                    <a:pt x="6651879" y="19050"/>
                  </a:cubicBezTo>
                  <a:lnTo>
                    <a:pt x="223774" y="19050"/>
                  </a:lnTo>
                  <a:lnTo>
                    <a:pt x="223774" y="9525"/>
                  </a:lnTo>
                  <a:lnTo>
                    <a:pt x="223774" y="19050"/>
                  </a:lnTo>
                  <a:cubicBezTo>
                    <a:pt x="110617" y="19050"/>
                    <a:pt x="19050" y="110363"/>
                    <a:pt x="19050" y="22288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428333" y="4856797"/>
            <a:ext cx="5142500" cy="857079"/>
            <a:chOff x="0" y="0"/>
            <a:chExt cx="6856666" cy="11427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6661" cy="1142777"/>
            </a:xfrm>
            <a:custGeom>
              <a:avLst/>
              <a:gdLst/>
              <a:ahLst/>
              <a:cxnLst/>
              <a:rect r="r" b="b" t="t" l="l"/>
              <a:pathLst>
                <a:path h="1142777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56666" cy="1161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8"/>
                </a:lnSpc>
              </a:pPr>
              <a:r>
                <a:rPr lang="en-US" sz="494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70.5%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28333" y="5771026"/>
            <a:ext cx="5142500" cy="342833"/>
            <a:chOff x="0" y="0"/>
            <a:chExt cx="6856666" cy="457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6661" cy="457111"/>
            </a:xfrm>
            <a:custGeom>
              <a:avLst/>
              <a:gdLst/>
              <a:ahLst/>
              <a:cxnLst/>
              <a:rect r="r" b="b" t="t" l="l"/>
              <a:pathLst>
                <a:path h="457111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856666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SC Seats Flipped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28333" y="6142425"/>
            <a:ext cx="5142500" cy="342833"/>
            <a:chOff x="0" y="0"/>
            <a:chExt cx="6856666" cy="457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6661" cy="457111"/>
            </a:xfrm>
            <a:custGeom>
              <a:avLst/>
              <a:gdLst/>
              <a:ahLst/>
              <a:cxnLst/>
              <a:rect r="r" b="b" t="t" l="l"/>
              <a:pathLst>
                <a:path h="457111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856666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31 of 44 reserved seats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06461" y="4706807"/>
            <a:ext cx="5156778" cy="2014147"/>
            <a:chOff x="0" y="0"/>
            <a:chExt cx="6875704" cy="26855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525" y="9525"/>
              <a:ext cx="6856603" cy="2666492"/>
            </a:xfrm>
            <a:custGeom>
              <a:avLst/>
              <a:gdLst/>
              <a:ahLst/>
              <a:cxnLst/>
              <a:rect r="r" b="b" t="t" l="l"/>
              <a:pathLst>
                <a:path h="2666492" w="6856603">
                  <a:moveTo>
                    <a:pt x="0" y="213360"/>
                  </a:moveTo>
                  <a:cubicBezTo>
                    <a:pt x="0" y="95504"/>
                    <a:pt x="95885" y="0"/>
                    <a:pt x="214249" y="0"/>
                  </a:cubicBezTo>
                  <a:lnTo>
                    <a:pt x="6642354" y="0"/>
                  </a:lnTo>
                  <a:cubicBezTo>
                    <a:pt x="6760718" y="0"/>
                    <a:pt x="6856603" y="95504"/>
                    <a:pt x="6856603" y="213360"/>
                  </a:cubicBezTo>
                  <a:lnTo>
                    <a:pt x="6856603" y="2453132"/>
                  </a:lnTo>
                  <a:cubicBezTo>
                    <a:pt x="6856603" y="2570988"/>
                    <a:pt x="6760718" y="2666492"/>
                    <a:pt x="6642354" y="2666492"/>
                  </a:cubicBezTo>
                  <a:lnTo>
                    <a:pt x="214249" y="2666492"/>
                  </a:lnTo>
                  <a:cubicBezTo>
                    <a:pt x="95885" y="2666492"/>
                    <a:pt x="0" y="2570988"/>
                    <a:pt x="0" y="245313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75653" cy="2685542"/>
            </a:xfrm>
            <a:custGeom>
              <a:avLst/>
              <a:gdLst/>
              <a:ahLst/>
              <a:cxnLst/>
              <a:rect r="r" b="b" t="t" l="l"/>
              <a:pathLst>
                <a:path h="2685542" w="6875653">
                  <a:moveTo>
                    <a:pt x="0" y="222885"/>
                  </a:moveTo>
                  <a:cubicBezTo>
                    <a:pt x="0" y="99695"/>
                    <a:pt x="100203" y="0"/>
                    <a:pt x="223774" y="0"/>
                  </a:cubicBezTo>
                  <a:lnTo>
                    <a:pt x="6651879" y="0"/>
                  </a:lnTo>
                  <a:lnTo>
                    <a:pt x="6651879" y="9525"/>
                  </a:lnTo>
                  <a:lnTo>
                    <a:pt x="6651879" y="0"/>
                  </a:lnTo>
                  <a:cubicBezTo>
                    <a:pt x="6775450" y="0"/>
                    <a:pt x="6875653" y="99695"/>
                    <a:pt x="6875653" y="222885"/>
                  </a:cubicBezTo>
                  <a:lnTo>
                    <a:pt x="6866128" y="222885"/>
                  </a:lnTo>
                  <a:lnTo>
                    <a:pt x="6875653" y="222885"/>
                  </a:lnTo>
                  <a:lnTo>
                    <a:pt x="6875653" y="2462657"/>
                  </a:lnTo>
                  <a:lnTo>
                    <a:pt x="6866128" y="2462657"/>
                  </a:lnTo>
                  <a:lnTo>
                    <a:pt x="6875653" y="2462657"/>
                  </a:lnTo>
                  <a:cubicBezTo>
                    <a:pt x="6875653" y="2585720"/>
                    <a:pt x="6775450" y="2685542"/>
                    <a:pt x="6651879" y="2685542"/>
                  </a:cubicBezTo>
                  <a:lnTo>
                    <a:pt x="6651879" y="2676017"/>
                  </a:lnTo>
                  <a:lnTo>
                    <a:pt x="6651879" y="2685542"/>
                  </a:lnTo>
                  <a:lnTo>
                    <a:pt x="223774" y="2685542"/>
                  </a:lnTo>
                  <a:lnTo>
                    <a:pt x="223774" y="2676017"/>
                  </a:lnTo>
                  <a:lnTo>
                    <a:pt x="223774" y="2685542"/>
                  </a:lnTo>
                  <a:cubicBezTo>
                    <a:pt x="100203" y="2685542"/>
                    <a:pt x="0" y="2585847"/>
                    <a:pt x="0" y="2462657"/>
                  </a:cubicBezTo>
                  <a:lnTo>
                    <a:pt x="0" y="222885"/>
                  </a:lnTo>
                  <a:lnTo>
                    <a:pt x="9525" y="222885"/>
                  </a:lnTo>
                  <a:lnTo>
                    <a:pt x="0" y="222885"/>
                  </a:lnTo>
                  <a:moveTo>
                    <a:pt x="19050" y="222885"/>
                  </a:moveTo>
                  <a:lnTo>
                    <a:pt x="19050" y="2462657"/>
                  </a:lnTo>
                  <a:lnTo>
                    <a:pt x="9525" y="2462657"/>
                  </a:lnTo>
                  <a:lnTo>
                    <a:pt x="19050" y="2462657"/>
                  </a:lnTo>
                  <a:cubicBezTo>
                    <a:pt x="19050" y="2575179"/>
                    <a:pt x="110617" y="2666492"/>
                    <a:pt x="223774" y="2666492"/>
                  </a:cubicBezTo>
                  <a:lnTo>
                    <a:pt x="6651879" y="2666492"/>
                  </a:lnTo>
                  <a:cubicBezTo>
                    <a:pt x="6765036" y="2666492"/>
                    <a:pt x="6856603" y="2575179"/>
                    <a:pt x="6856603" y="2462657"/>
                  </a:cubicBezTo>
                  <a:lnTo>
                    <a:pt x="6856603" y="222885"/>
                  </a:lnTo>
                  <a:cubicBezTo>
                    <a:pt x="6856603" y="110363"/>
                    <a:pt x="6765036" y="19050"/>
                    <a:pt x="6651879" y="19050"/>
                  </a:cubicBezTo>
                  <a:lnTo>
                    <a:pt x="223774" y="19050"/>
                  </a:lnTo>
                  <a:lnTo>
                    <a:pt x="223774" y="9525"/>
                  </a:lnTo>
                  <a:lnTo>
                    <a:pt x="223774" y="19050"/>
                  </a:lnTo>
                  <a:cubicBezTo>
                    <a:pt x="110617" y="19050"/>
                    <a:pt x="19050" y="110363"/>
                    <a:pt x="19050" y="22288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13605" y="4856797"/>
            <a:ext cx="5142500" cy="857079"/>
            <a:chOff x="0" y="0"/>
            <a:chExt cx="6856666" cy="11427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56661" cy="1142777"/>
            </a:xfrm>
            <a:custGeom>
              <a:avLst/>
              <a:gdLst/>
              <a:ahLst/>
              <a:cxnLst/>
              <a:rect r="r" b="b" t="t" l="l"/>
              <a:pathLst>
                <a:path h="1142777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856666" cy="1161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8"/>
                </a:lnSpc>
              </a:pPr>
              <a:r>
                <a:rPr lang="en-US" sz="494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69.7%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13605" y="5771026"/>
            <a:ext cx="5142500" cy="342833"/>
            <a:chOff x="0" y="0"/>
            <a:chExt cx="6856666" cy="457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6661" cy="457111"/>
            </a:xfrm>
            <a:custGeom>
              <a:avLst/>
              <a:gdLst/>
              <a:ahLst/>
              <a:cxnLst/>
              <a:rect r="r" b="b" t="t" l="l"/>
              <a:pathLst>
                <a:path h="457111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856666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GEN Seats Flipped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13605" y="6142425"/>
            <a:ext cx="5142500" cy="342833"/>
            <a:chOff x="0" y="0"/>
            <a:chExt cx="6856666" cy="457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56661" cy="457111"/>
            </a:xfrm>
            <a:custGeom>
              <a:avLst/>
              <a:gdLst/>
              <a:ahLst/>
              <a:cxnLst/>
              <a:rect r="r" b="b" t="t" l="l"/>
              <a:pathLst>
                <a:path h="457111" w="6856661">
                  <a:moveTo>
                    <a:pt x="0" y="0"/>
                  </a:moveTo>
                  <a:lnTo>
                    <a:pt x="6856661" y="0"/>
                  </a:lnTo>
                  <a:lnTo>
                    <a:pt x="6856661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856666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131 of 188 general seats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7098" y="7420908"/>
            <a:ext cx="16870242" cy="1585598"/>
            <a:chOff x="0" y="0"/>
            <a:chExt cx="22493656" cy="21141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9525" y="9525"/>
              <a:ext cx="22474681" cy="2095119"/>
            </a:xfrm>
            <a:custGeom>
              <a:avLst/>
              <a:gdLst/>
              <a:ahLst/>
              <a:cxnLst/>
              <a:rect r="r" b="b" t="t" l="l"/>
              <a:pathLst>
                <a:path h="2095119" w="22474681">
                  <a:moveTo>
                    <a:pt x="0" y="125730"/>
                  </a:moveTo>
                  <a:cubicBezTo>
                    <a:pt x="0" y="56261"/>
                    <a:pt x="56769" y="0"/>
                    <a:pt x="126746" y="0"/>
                  </a:cubicBezTo>
                  <a:lnTo>
                    <a:pt x="22347935" y="0"/>
                  </a:lnTo>
                  <a:cubicBezTo>
                    <a:pt x="22417912" y="0"/>
                    <a:pt x="22474681" y="56261"/>
                    <a:pt x="22474681" y="125730"/>
                  </a:cubicBezTo>
                  <a:lnTo>
                    <a:pt x="22474681" y="1969389"/>
                  </a:lnTo>
                  <a:cubicBezTo>
                    <a:pt x="22474681" y="2038858"/>
                    <a:pt x="22417912" y="2095119"/>
                    <a:pt x="22347935" y="2095119"/>
                  </a:cubicBezTo>
                  <a:lnTo>
                    <a:pt x="126746" y="2095119"/>
                  </a:lnTo>
                  <a:cubicBezTo>
                    <a:pt x="56769" y="2095119"/>
                    <a:pt x="0" y="2038858"/>
                    <a:pt x="0" y="196938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93731" cy="2114169"/>
            </a:xfrm>
            <a:custGeom>
              <a:avLst/>
              <a:gdLst/>
              <a:ahLst/>
              <a:cxnLst/>
              <a:rect r="r" b="b" t="t" l="l"/>
              <a:pathLst>
                <a:path h="2114169" w="22493731">
                  <a:moveTo>
                    <a:pt x="0" y="135255"/>
                  </a:moveTo>
                  <a:cubicBezTo>
                    <a:pt x="0" y="60452"/>
                    <a:pt x="61087" y="0"/>
                    <a:pt x="136271" y="0"/>
                  </a:cubicBezTo>
                  <a:lnTo>
                    <a:pt x="22357460" y="0"/>
                  </a:lnTo>
                  <a:lnTo>
                    <a:pt x="22357460" y="9525"/>
                  </a:lnTo>
                  <a:lnTo>
                    <a:pt x="22357460" y="0"/>
                  </a:lnTo>
                  <a:cubicBezTo>
                    <a:pt x="22432645" y="0"/>
                    <a:pt x="22493731" y="60452"/>
                    <a:pt x="22493731" y="135255"/>
                  </a:cubicBezTo>
                  <a:lnTo>
                    <a:pt x="22484206" y="135255"/>
                  </a:lnTo>
                  <a:lnTo>
                    <a:pt x="22493731" y="135255"/>
                  </a:lnTo>
                  <a:lnTo>
                    <a:pt x="22493731" y="1978914"/>
                  </a:lnTo>
                  <a:lnTo>
                    <a:pt x="22484206" y="1978914"/>
                  </a:lnTo>
                  <a:lnTo>
                    <a:pt x="22493731" y="1978914"/>
                  </a:lnTo>
                  <a:cubicBezTo>
                    <a:pt x="22493731" y="2053717"/>
                    <a:pt x="22432645" y="2114169"/>
                    <a:pt x="22357460" y="2114169"/>
                  </a:cubicBezTo>
                  <a:lnTo>
                    <a:pt x="22357460" y="2104644"/>
                  </a:lnTo>
                  <a:lnTo>
                    <a:pt x="22357460" y="2114169"/>
                  </a:lnTo>
                  <a:lnTo>
                    <a:pt x="136271" y="2114169"/>
                  </a:lnTo>
                  <a:lnTo>
                    <a:pt x="136271" y="2104644"/>
                  </a:lnTo>
                  <a:lnTo>
                    <a:pt x="136271" y="2114169"/>
                  </a:lnTo>
                  <a:cubicBezTo>
                    <a:pt x="61087" y="2114169"/>
                    <a:pt x="0" y="2053717"/>
                    <a:pt x="0" y="1978914"/>
                  </a:cubicBezTo>
                  <a:lnTo>
                    <a:pt x="0" y="135255"/>
                  </a:lnTo>
                  <a:lnTo>
                    <a:pt x="9525" y="135255"/>
                  </a:lnTo>
                  <a:lnTo>
                    <a:pt x="0" y="135255"/>
                  </a:lnTo>
                  <a:moveTo>
                    <a:pt x="19050" y="135255"/>
                  </a:moveTo>
                  <a:lnTo>
                    <a:pt x="19050" y="1978914"/>
                  </a:lnTo>
                  <a:lnTo>
                    <a:pt x="9525" y="1978914"/>
                  </a:lnTo>
                  <a:lnTo>
                    <a:pt x="19050" y="1978914"/>
                  </a:lnTo>
                  <a:cubicBezTo>
                    <a:pt x="19050" y="2043049"/>
                    <a:pt x="71501" y="2095119"/>
                    <a:pt x="136271" y="2095119"/>
                  </a:cubicBezTo>
                  <a:lnTo>
                    <a:pt x="22357460" y="2095119"/>
                  </a:lnTo>
                  <a:cubicBezTo>
                    <a:pt x="22422230" y="2095119"/>
                    <a:pt x="22474681" y="2043049"/>
                    <a:pt x="22474681" y="1978914"/>
                  </a:cubicBezTo>
                  <a:lnTo>
                    <a:pt x="22474681" y="135255"/>
                  </a:lnTo>
                  <a:cubicBezTo>
                    <a:pt x="22474681" y="71120"/>
                    <a:pt x="22422230" y="19050"/>
                    <a:pt x="22357460" y="19050"/>
                  </a:cubicBezTo>
                  <a:lnTo>
                    <a:pt x="136271" y="19050"/>
                  </a:lnTo>
                  <a:lnTo>
                    <a:pt x="136271" y="9525"/>
                  </a:lnTo>
                  <a:lnTo>
                    <a:pt x="136271" y="19050"/>
                  </a:lnTo>
                  <a:cubicBezTo>
                    <a:pt x="71501" y="19050"/>
                    <a:pt x="19050" y="71120"/>
                    <a:pt x="19050" y="135255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99925" y="7628039"/>
            <a:ext cx="16284569" cy="1171346"/>
            <a:chOff x="0" y="0"/>
            <a:chExt cx="21712758" cy="156179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12760" cy="1561795"/>
            </a:xfrm>
            <a:custGeom>
              <a:avLst/>
              <a:gdLst/>
              <a:ahLst/>
              <a:cxnLst/>
              <a:rect r="r" b="b" t="t" l="l"/>
              <a:pathLst>
                <a:path h="1561795" w="21712760">
                  <a:moveTo>
                    <a:pt x="0" y="0"/>
                  </a:moveTo>
                  <a:lnTo>
                    <a:pt x="21712760" y="0"/>
                  </a:lnTo>
                  <a:lnTo>
                    <a:pt x="21712760" y="1561795"/>
                  </a:lnTo>
                  <a:lnTo>
                    <a:pt x="0" y="15617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889" r="0" b="-2208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21712758" cy="168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687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Why this matters:</a:t>
              </a: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Most analyses focus on overall seat counts. This finding shows the reshaping of Tamil Nadu was structurally uniform — not concentrated in any one category of constituency. That uniformity is the data story.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5713183" cy="571386"/>
            <a:chOff x="0" y="0"/>
            <a:chExt cx="20950911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0909" cy="761851"/>
            </a:xfrm>
            <a:custGeom>
              <a:avLst/>
              <a:gdLst/>
              <a:ahLst/>
              <a:cxnLst/>
              <a:rect r="r" b="b" t="t" l="l"/>
              <a:pathLst>
                <a:path h="761851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950911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TVK's Performance Was Stronger in Reserved Seats Than General Seats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Q4 · SC seat winners: 2021 vs 2026 · A finding most analysts will miss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63614" y="1564176"/>
            <a:ext cx="8013725" cy="1442752"/>
            <a:chOff x="0" y="0"/>
            <a:chExt cx="10684967" cy="1923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0665968" cy="1904619"/>
            </a:xfrm>
            <a:custGeom>
              <a:avLst/>
              <a:gdLst/>
              <a:ahLst/>
              <a:cxnLst/>
              <a:rect r="r" b="b" t="t" l="l"/>
              <a:pathLst>
                <a:path h="1904619" w="10665968">
                  <a:moveTo>
                    <a:pt x="0" y="152400"/>
                  </a:moveTo>
                  <a:cubicBezTo>
                    <a:pt x="0" y="68199"/>
                    <a:pt x="68834" y="0"/>
                    <a:pt x="153670" y="0"/>
                  </a:cubicBezTo>
                  <a:lnTo>
                    <a:pt x="10512298" y="0"/>
                  </a:lnTo>
                  <a:cubicBezTo>
                    <a:pt x="10597134" y="0"/>
                    <a:pt x="10665968" y="68199"/>
                    <a:pt x="10665968" y="152400"/>
                  </a:cubicBezTo>
                  <a:lnTo>
                    <a:pt x="10665968" y="1752219"/>
                  </a:lnTo>
                  <a:cubicBezTo>
                    <a:pt x="10665968" y="1836420"/>
                    <a:pt x="10597134" y="1904619"/>
                    <a:pt x="10512298" y="1904619"/>
                  </a:cubicBezTo>
                  <a:lnTo>
                    <a:pt x="153670" y="1904619"/>
                  </a:lnTo>
                  <a:cubicBezTo>
                    <a:pt x="68834" y="1904619"/>
                    <a:pt x="0" y="1836420"/>
                    <a:pt x="0" y="175221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85018" cy="1923669"/>
            </a:xfrm>
            <a:custGeom>
              <a:avLst/>
              <a:gdLst/>
              <a:ahLst/>
              <a:cxnLst/>
              <a:rect r="r" b="b" t="t" l="l"/>
              <a:pathLst>
                <a:path h="1923669" w="10685018">
                  <a:moveTo>
                    <a:pt x="0" y="161925"/>
                  </a:moveTo>
                  <a:cubicBezTo>
                    <a:pt x="0" y="72390"/>
                    <a:pt x="73152" y="0"/>
                    <a:pt x="163195" y="0"/>
                  </a:cubicBezTo>
                  <a:lnTo>
                    <a:pt x="10521823" y="0"/>
                  </a:lnTo>
                  <a:lnTo>
                    <a:pt x="10521823" y="9525"/>
                  </a:lnTo>
                  <a:lnTo>
                    <a:pt x="10521823" y="0"/>
                  </a:lnTo>
                  <a:cubicBezTo>
                    <a:pt x="10611866" y="0"/>
                    <a:pt x="10685018" y="72390"/>
                    <a:pt x="10685018" y="161925"/>
                  </a:cubicBezTo>
                  <a:lnTo>
                    <a:pt x="10675493" y="161925"/>
                  </a:lnTo>
                  <a:lnTo>
                    <a:pt x="10685018" y="161925"/>
                  </a:lnTo>
                  <a:lnTo>
                    <a:pt x="10685018" y="1761744"/>
                  </a:lnTo>
                  <a:lnTo>
                    <a:pt x="10675493" y="1761744"/>
                  </a:lnTo>
                  <a:lnTo>
                    <a:pt x="10685018" y="1761744"/>
                  </a:lnTo>
                  <a:cubicBezTo>
                    <a:pt x="10685018" y="1851279"/>
                    <a:pt x="10611866" y="1923669"/>
                    <a:pt x="10521823" y="1923669"/>
                  </a:cubicBezTo>
                  <a:lnTo>
                    <a:pt x="10521823" y="1914144"/>
                  </a:lnTo>
                  <a:lnTo>
                    <a:pt x="10521823" y="1923669"/>
                  </a:lnTo>
                  <a:lnTo>
                    <a:pt x="163195" y="1923669"/>
                  </a:lnTo>
                  <a:lnTo>
                    <a:pt x="163195" y="1914144"/>
                  </a:lnTo>
                  <a:lnTo>
                    <a:pt x="163195" y="1923669"/>
                  </a:lnTo>
                  <a:cubicBezTo>
                    <a:pt x="73152" y="1923669"/>
                    <a:pt x="0" y="1851279"/>
                    <a:pt x="0" y="1761744"/>
                  </a:cubicBezTo>
                  <a:lnTo>
                    <a:pt x="0" y="161925"/>
                  </a:lnTo>
                  <a:lnTo>
                    <a:pt x="9525" y="161925"/>
                  </a:lnTo>
                  <a:lnTo>
                    <a:pt x="0" y="161925"/>
                  </a:lnTo>
                  <a:moveTo>
                    <a:pt x="19050" y="161925"/>
                  </a:moveTo>
                  <a:lnTo>
                    <a:pt x="19050" y="1761744"/>
                  </a:lnTo>
                  <a:lnTo>
                    <a:pt x="9525" y="1761744"/>
                  </a:lnTo>
                  <a:lnTo>
                    <a:pt x="19050" y="1761744"/>
                  </a:lnTo>
                  <a:cubicBezTo>
                    <a:pt x="19050" y="1840611"/>
                    <a:pt x="83439" y="1904619"/>
                    <a:pt x="163195" y="1904619"/>
                  </a:cubicBezTo>
                  <a:lnTo>
                    <a:pt x="10521823" y="1904619"/>
                  </a:lnTo>
                  <a:cubicBezTo>
                    <a:pt x="10601452" y="1904619"/>
                    <a:pt x="10665968" y="1840611"/>
                    <a:pt x="10665968" y="1761744"/>
                  </a:cubicBezTo>
                  <a:lnTo>
                    <a:pt x="10665968" y="161925"/>
                  </a:lnTo>
                  <a:cubicBezTo>
                    <a:pt x="10665968" y="83058"/>
                    <a:pt x="10601579" y="19050"/>
                    <a:pt x="10521823" y="19050"/>
                  </a:cubicBezTo>
                  <a:lnTo>
                    <a:pt x="163195" y="19050"/>
                  </a:lnTo>
                  <a:lnTo>
                    <a:pt x="163195" y="9525"/>
                  </a:lnTo>
                  <a:lnTo>
                    <a:pt x="163195" y="19050"/>
                  </a:lnTo>
                  <a:cubicBezTo>
                    <a:pt x="83439" y="19050"/>
                    <a:pt x="19050" y="83058"/>
                    <a:pt x="19050" y="16192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56451" y="1685592"/>
            <a:ext cx="2856938" cy="371399"/>
            <a:chOff x="0" y="0"/>
            <a:chExt cx="3809251" cy="495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56" cy="495203"/>
            </a:xfrm>
            <a:custGeom>
              <a:avLst/>
              <a:gdLst/>
              <a:ahLst/>
              <a:cxnLst/>
              <a:rect r="r" b="b" t="t" l="l"/>
              <a:pathLst>
                <a:path h="495203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495203"/>
                  </a:lnTo>
                  <a:lnTo>
                    <a:pt x="0" y="4952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5" r="0" b="-998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09251" cy="504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20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DMK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63614" y="3164062"/>
            <a:ext cx="8013725" cy="1442752"/>
            <a:chOff x="0" y="0"/>
            <a:chExt cx="10684967" cy="19236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9525"/>
              <a:ext cx="10665968" cy="1904619"/>
            </a:xfrm>
            <a:custGeom>
              <a:avLst/>
              <a:gdLst/>
              <a:ahLst/>
              <a:cxnLst/>
              <a:rect r="r" b="b" t="t" l="l"/>
              <a:pathLst>
                <a:path h="1904619" w="10665968">
                  <a:moveTo>
                    <a:pt x="0" y="152400"/>
                  </a:moveTo>
                  <a:cubicBezTo>
                    <a:pt x="0" y="68199"/>
                    <a:pt x="68834" y="0"/>
                    <a:pt x="153670" y="0"/>
                  </a:cubicBezTo>
                  <a:lnTo>
                    <a:pt x="10512298" y="0"/>
                  </a:lnTo>
                  <a:cubicBezTo>
                    <a:pt x="10597134" y="0"/>
                    <a:pt x="10665968" y="68199"/>
                    <a:pt x="10665968" y="152400"/>
                  </a:cubicBezTo>
                  <a:lnTo>
                    <a:pt x="10665968" y="1752219"/>
                  </a:lnTo>
                  <a:cubicBezTo>
                    <a:pt x="10665968" y="1836420"/>
                    <a:pt x="10597134" y="1904619"/>
                    <a:pt x="10512298" y="1904619"/>
                  </a:cubicBezTo>
                  <a:lnTo>
                    <a:pt x="153670" y="1904619"/>
                  </a:lnTo>
                  <a:cubicBezTo>
                    <a:pt x="68834" y="1904619"/>
                    <a:pt x="0" y="1836420"/>
                    <a:pt x="0" y="175221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85018" cy="1923669"/>
            </a:xfrm>
            <a:custGeom>
              <a:avLst/>
              <a:gdLst/>
              <a:ahLst/>
              <a:cxnLst/>
              <a:rect r="r" b="b" t="t" l="l"/>
              <a:pathLst>
                <a:path h="1923669" w="10685018">
                  <a:moveTo>
                    <a:pt x="0" y="161925"/>
                  </a:moveTo>
                  <a:cubicBezTo>
                    <a:pt x="0" y="72390"/>
                    <a:pt x="73152" y="0"/>
                    <a:pt x="163195" y="0"/>
                  </a:cubicBezTo>
                  <a:lnTo>
                    <a:pt x="10521823" y="0"/>
                  </a:lnTo>
                  <a:lnTo>
                    <a:pt x="10521823" y="9525"/>
                  </a:lnTo>
                  <a:lnTo>
                    <a:pt x="10521823" y="0"/>
                  </a:lnTo>
                  <a:cubicBezTo>
                    <a:pt x="10611866" y="0"/>
                    <a:pt x="10685018" y="72390"/>
                    <a:pt x="10685018" y="161925"/>
                  </a:cubicBezTo>
                  <a:lnTo>
                    <a:pt x="10675493" y="161925"/>
                  </a:lnTo>
                  <a:lnTo>
                    <a:pt x="10685018" y="161925"/>
                  </a:lnTo>
                  <a:lnTo>
                    <a:pt x="10685018" y="1761744"/>
                  </a:lnTo>
                  <a:lnTo>
                    <a:pt x="10675493" y="1761744"/>
                  </a:lnTo>
                  <a:lnTo>
                    <a:pt x="10685018" y="1761744"/>
                  </a:lnTo>
                  <a:cubicBezTo>
                    <a:pt x="10685018" y="1851279"/>
                    <a:pt x="10611866" y="1923669"/>
                    <a:pt x="10521823" y="1923669"/>
                  </a:cubicBezTo>
                  <a:lnTo>
                    <a:pt x="10521823" y="1914144"/>
                  </a:lnTo>
                  <a:lnTo>
                    <a:pt x="10521823" y="1923669"/>
                  </a:lnTo>
                  <a:lnTo>
                    <a:pt x="163195" y="1923669"/>
                  </a:lnTo>
                  <a:lnTo>
                    <a:pt x="163195" y="1914144"/>
                  </a:lnTo>
                  <a:lnTo>
                    <a:pt x="163195" y="1923669"/>
                  </a:lnTo>
                  <a:cubicBezTo>
                    <a:pt x="73152" y="1923669"/>
                    <a:pt x="0" y="1851279"/>
                    <a:pt x="0" y="1761744"/>
                  </a:cubicBezTo>
                  <a:lnTo>
                    <a:pt x="0" y="161925"/>
                  </a:lnTo>
                  <a:lnTo>
                    <a:pt x="9525" y="161925"/>
                  </a:lnTo>
                  <a:lnTo>
                    <a:pt x="0" y="161925"/>
                  </a:lnTo>
                  <a:moveTo>
                    <a:pt x="19050" y="161925"/>
                  </a:moveTo>
                  <a:lnTo>
                    <a:pt x="19050" y="1761744"/>
                  </a:lnTo>
                  <a:lnTo>
                    <a:pt x="9525" y="1761744"/>
                  </a:lnTo>
                  <a:lnTo>
                    <a:pt x="19050" y="1761744"/>
                  </a:lnTo>
                  <a:cubicBezTo>
                    <a:pt x="19050" y="1840611"/>
                    <a:pt x="83439" y="1904619"/>
                    <a:pt x="163195" y="1904619"/>
                  </a:cubicBezTo>
                  <a:lnTo>
                    <a:pt x="10521823" y="1904619"/>
                  </a:lnTo>
                  <a:cubicBezTo>
                    <a:pt x="10601452" y="1904619"/>
                    <a:pt x="10665968" y="1840611"/>
                    <a:pt x="10665968" y="1761744"/>
                  </a:cubicBezTo>
                  <a:lnTo>
                    <a:pt x="10665968" y="161925"/>
                  </a:lnTo>
                  <a:cubicBezTo>
                    <a:pt x="10665968" y="83058"/>
                    <a:pt x="10601579" y="19050"/>
                    <a:pt x="10521823" y="19050"/>
                  </a:cubicBezTo>
                  <a:lnTo>
                    <a:pt x="163195" y="19050"/>
                  </a:lnTo>
                  <a:lnTo>
                    <a:pt x="163195" y="9525"/>
                  </a:lnTo>
                  <a:lnTo>
                    <a:pt x="163195" y="19050"/>
                  </a:lnTo>
                  <a:cubicBezTo>
                    <a:pt x="83439" y="19050"/>
                    <a:pt x="19050" y="83058"/>
                    <a:pt x="19050" y="16192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56451" y="3285487"/>
            <a:ext cx="2856938" cy="371399"/>
            <a:chOff x="0" y="0"/>
            <a:chExt cx="3809251" cy="495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09256" cy="495203"/>
            </a:xfrm>
            <a:custGeom>
              <a:avLst/>
              <a:gdLst/>
              <a:ahLst/>
              <a:cxnLst/>
              <a:rect r="r" b="b" t="t" l="l"/>
              <a:pathLst>
                <a:path h="495203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495203"/>
                  </a:lnTo>
                  <a:lnTo>
                    <a:pt x="0" y="4952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5" r="0" b="-998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809251" cy="504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20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AIADMK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56471" y="4756804"/>
            <a:ext cx="8028003" cy="1457039"/>
            <a:chOff x="0" y="0"/>
            <a:chExt cx="10704004" cy="1942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10665841" cy="1904619"/>
            </a:xfrm>
            <a:custGeom>
              <a:avLst/>
              <a:gdLst/>
              <a:ahLst/>
              <a:cxnLst/>
              <a:rect r="r" b="b" t="t" l="l"/>
              <a:pathLst>
                <a:path h="1904619" w="10665841">
                  <a:moveTo>
                    <a:pt x="0" y="152400"/>
                  </a:moveTo>
                  <a:cubicBezTo>
                    <a:pt x="0" y="68199"/>
                    <a:pt x="69342" y="0"/>
                    <a:pt x="154813" y="0"/>
                  </a:cubicBezTo>
                  <a:lnTo>
                    <a:pt x="10511028" y="0"/>
                  </a:lnTo>
                  <a:cubicBezTo>
                    <a:pt x="10596499" y="0"/>
                    <a:pt x="10665841" y="68199"/>
                    <a:pt x="10665841" y="152400"/>
                  </a:cubicBezTo>
                  <a:lnTo>
                    <a:pt x="10665841" y="1752219"/>
                  </a:lnTo>
                  <a:cubicBezTo>
                    <a:pt x="10665841" y="1836420"/>
                    <a:pt x="10596499" y="1904619"/>
                    <a:pt x="10511028" y="1904619"/>
                  </a:cubicBezTo>
                  <a:lnTo>
                    <a:pt x="154813" y="1904619"/>
                  </a:lnTo>
                  <a:cubicBezTo>
                    <a:pt x="69342" y="1904619"/>
                    <a:pt x="0" y="1836420"/>
                    <a:pt x="0" y="1752219"/>
                  </a:cubicBezTo>
                  <a:close/>
                </a:path>
              </a:pathLst>
            </a:custGeom>
            <a:solidFill>
              <a:srgbClr val="E87722">
                <a:alpha val="392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3941" cy="1942719"/>
            </a:xfrm>
            <a:custGeom>
              <a:avLst/>
              <a:gdLst/>
              <a:ahLst/>
              <a:cxnLst/>
              <a:rect r="r" b="b" t="t" l="l"/>
              <a:pathLst>
                <a:path h="1942719" w="10703941">
                  <a:moveTo>
                    <a:pt x="0" y="171450"/>
                  </a:moveTo>
                  <a:cubicBezTo>
                    <a:pt x="0" y="76454"/>
                    <a:pt x="78105" y="0"/>
                    <a:pt x="173863" y="0"/>
                  </a:cubicBezTo>
                  <a:lnTo>
                    <a:pt x="10530078" y="0"/>
                  </a:lnTo>
                  <a:lnTo>
                    <a:pt x="10530078" y="19050"/>
                  </a:lnTo>
                  <a:lnTo>
                    <a:pt x="10530078" y="0"/>
                  </a:lnTo>
                  <a:cubicBezTo>
                    <a:pt x="10625836" y="0"/>
                    <a:pt x="10703941" y="76454"/>
                    <a:pt x="10703941" y="171450"/>
                  </a:cubicBezTo>
                  <a:lnTo>
                    <a:pt x="10684891" y="171450"/>
                  </a:lnTo>
                  <a:lnTo>
                    <a:pt x="10703941" y="171450"/>
                  </a:lnTo>
                  <a:lnTo>
                    <a:pt x="10703941" y="1771269"/>
                  </a:lnTo>
                  <a:lnTo>
                    <a:pt x="10684891" y="1771269"/>
                  </a:lnTo>
                  <a:lnTo>
                    <a:pt x="10703941" y="1771269"/>
                  </a:lnTo>
                  <a:cubicBezTo>
                    <a:pt x="10703941" y="1866265"/>
                    <a:pt x="10625836" y="1942719"/>
                    <a:pt x="10530078" y="1942719"/>
                  </a:cubicBezTo>
                  <a:lnTo>
                    <a:pt x="10530078" y="1923669"/>
                  </a:lnTo>
                  <a:lnTo>
                    <a:pt x="10530078" y="1942719"/>
                  </a:lnTo>
                  <a:lnTo>
                    <a:pt x="173863" y="1942719"/>
                  </a:lnTo>
                  <a:lnTo>
                    <a:pt x="173863" y="1923669"/>
                  </a:lnTo>
                  <a:lnTo>
                    <a:pt x="173863" y="1942719"/>
                  </a:lnTo>
                  <a:cubicBezTo>
                    <a:pt x="78105" y="1942719"/>
                    <a:pt x="0" y="1866265"/>
                    <a:pt x="0" y="1771269"/>
                  </a:cubicBezTo>
                  <a:lnTo>
                    <a:pt x="0" y="171450"/>
                  </a:lnTo>
                  <a:lnTo>
                    <a:pt x="19050" y="171450"/>
                  </a:lnTo>
                  <a:lnTo>
                    <a:pt x="0" y="171450"/>
                  </a:lnTo>
                  <a:moveTo>
                    <a:pt x="38100" y="171450"/>
                  </a:moveTo>
                  <a:lnTo>
                    <a:pt x="38100" y="1771269"/>
                  </a:lnTo>
                  <a:lnTo>
                    <a:pt x="19050" y="1771269"/>
                  </a:lnTo>
                  <a:lnTo>
                    <a:pt x="38100" y="1771269"/>
                  </a:lnTo>
                  <a:cubicBezTo>
                    <a:pt x="38100" y="1844548"/>
                    <a:pt x="98552" y="1904619"/>
                    <a:pt x="173863" y="1904619"/>
                  </a:cubicBezTo>
                  <a:lnTo>
                    <a:pt x="10530078" y="1904619"/>
                  </a:lnTo>
                  <a:cubicBezTo>
                    <a:pt x="10605389" y="1904619"/>
                    <a:pt x="10665841" y="1844675"/>
                    <a:pt x="10665841" y="1771269"/>
                  </a:cubicBezTo>
                  <a:lnTo>
                    <a:pt x="10665841" y="171450"/>
                  </a:lnTo>
                  <a:cubicBezTo>
                    <a:pt x="10665841" y="98171"/>
                    <a:pt x="10605389" y="38100"/>
                    <a:pt x="10530078" y="38100"/>
                  </a:cubicBezTo>
                  <a:lnTo>
                    <a:pt x="173863" y="38100"/>
                  </a:lnTo>
                  <a:lnTo>
                    <a:pt x="173863" y="19050"/>
                  </a:lnTo>
                  <a:lnTo>
                    <a:pt x="173863" y="38100"/>
                  </a:lnTo>
                  <a:cubicBezTo>
                    <a:pt x="98552" y="38100"/>
                    <a:pt x="38100" y="98044"/>
                    <a:pt x="38100" y="171450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56451" y="4885372"/>
            <a:ext cx="2856938" cy="371399"/>
            <a:chOff x="0" y="0"/>
            <a:chExt cx="3809251" cy="4951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9256" cy="495203"/>
            </a:xfrm>
            <a:custGeom>
              <a:avLst/>
              <a:gdLst/>
              <a:ahLst/>
              <a:cxnLst/>
              <a:rect r="r" b="b" t="t" l="l"/>
              <a:pathLst>
                <a:path h="495203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495203"/>
                  </a:lnTo>
                  <a:lnTo>
                    <a:pt x="0" y="4952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5" r="0" b="-998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809251" cy="504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202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TVK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56471" y="6528111"/>
            <a:ext cx="8028003" cy="2028425"/>
            <a:chOff x="0" y="0"/>
            <a:chExt cx="10704004" cy="27045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10665968" cy="2666492"/>
            </a:xfrm>
            <a:custGeom>
              <a:avLst/>
              <a:gdLst/>
              <a:ahLst/>
              <a:cxnLst/>
              <a:rect r="r" b="b" t="t" l="l"/>
              <a:pathLst>
                <a:path h="2666492" w="10665968">
                  <a:moveTo>
                    <a:pt x="0" y="213360"/>
                  </a:moveTo>
                  <a:cubicBezTo>
                    <a:pt x="0" y="95504"/>
                    <a:pt x="96520" y="0"/>
                    <a:pt x="215646" y="0"/>
                  </a:cubicBezTo>
                  <a:lnTo>
                    <a:pt x="10450322" y="0"/>
                  </a:lnTo>
                  <a:cubicBezTo>
                    <a:pt x="10569448" y="0"/>
                    <a:pt x="10665968" y="95504"/>
                    <a:pt x="10665968" y="213360"/>
                  </a:cubicBezTo>
                  <a:lnTo>
                    <a:pt x="10665968" y="2453132"/>
                  </a:lnTo>
                  <a:cubicBezTo>
                    <a:pt x="10665968" y="2570988"/>
                    <a:pt x="10569448" y="2666492"/>
                    <a:pt x="10450322" y="2666492"/>
                  </a:cubicBezTo>
                  <a:lnTo>
                    <a:pt x="215646" y="2666492"/>
                  </a:lnTo>
                  <a:cubicBezTo>
                    <a:pt x="96520" y="2666492"/>
                    <a:pt x="0" y="2570988"/>
                    <a:pt x="0" y="245313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04068" cy="2704592"/>
            </a:xfrm>
            <a:custGeom>
              <a:avLst/>
              <a:gdLst/>
              <a:ahLst/>
              <a:cxnLst/>
              <a:rect r="r" b="b" t="t" l="l"/>
              <a:pathLst>
                <a:path h="2704592" w="10704068">
                  <a:moveTo>
                    <a:pt x="0" y="232410"/>
                  </a:moveTo>
                  <a:cubicBezTo>
                    <a:pt x="0" y="103886"/>
                    <a:pt x="105283" y="0"/>
                    <a:pt x="234696" y="0"/>
                  </a:cubicBezTo>
                  <a:lnTo>
                    <a:pt x="10469372" y="0"/>
                  </a:lnTo>
                  <a:lnTo>
                    <a:pt x="10469372" y="19050"/>
                  </a:lnTo>
                  <a:lnTo>
                    <a:pt x="10469372" y="0"/>
                  </a:lnTo>
                  <a:cubicBezTo>
                    <a:pt x="10598785" y="0"/>
                    <a:pt x="10704068" y="103886"/>
                    <a:pt x="10704068" y="232410"/>
                  </a:cubicBezTo>
                  <a:lnTo>
                    <a:pt x="10685018" y="232410"/>
                  </a:lnTo>
                  <a:lnTo>
                    <a:pt x="10704068" y="232410"/>
                  </a:lnTo>
                  <a:lnTo>
                    <a:pt x="10704068" y="2472182"/>
                  </a:lnTo>
                  <a:lnTo>
                    <a:pt x="10685018" y="2472182"/>
                  </a:lnTo>
                  <a:lnTo>
                    <a:pt x="10704068" y="2472182"/>
                  </a:lnTo>
                  <a:cubicBezTo>
                    <a:pt x="10704068" y="2600706"/>
                    <a:pt x="10598785" y="2704592"/>
                    <a:pt x="10469372" y="2704592"/>
                  </a:cubicBezTo>
                  <a:lnTo>
                    <a:pt x="10469372" y="2685542"/>
                  </a:lnTo>
                  <a:lnTo>
                    <a:pt x="10469372" y="2704592"/>
                  </a:lnTo>
                  <a:lnTo>
                    <a:pt x="234696" y="2704592"/>
                  </a:lnTo>
                  <a:lnTo>
                    <a:pt x="234696" y="2685542"/>
                  </a:lnTo>
                  <a:lnTo>
                    <a:pt x="234696" y="2704592"/>
                  </a:lnTo>
                  <a:cubicBezTo>
                    <a:pt x="105283" y="2704592"/>
                    <a:pt x="0" y="2600706"/>
                    <a:pt x="0" y="2472182"/>
                  </a:cubicBezTo>
                  <a:lnTo>
                    <a:pt x="0" y="232410"/>
                  </a:lnTo>
                  <a:lnTo>
                    <a:pt x="19050" y="232410"/>
                  </a:lnTo>
                  <a:lnTo>
                    <a:pt x="0" y="232410"/>
                  </a:lnTo>
                  <a:moveTo>
                    <a:pt x="38100" y="232410"/>
                  </a:moveTo>
                  <a:lnTo>
                    <a:pt x="38100" y="2472182"/>
                  </a:lnTo>
                  <a:lnTo>
                    <a:pt x="19050" y="2472182"/>
                  </a:lnTo>
                  <a:lnTo>
                    <a:pt x="38100" y="2472182"/>
                  </a:lnTo>
                  <a:cubicBezTo>
                    <a:pt x="38100" y="2579243"/>
                    <a:pt x="125857" y="2666492"/>
                    <a:pt x="234696" y="2666492"/>
                  </a:cubicBezTo>
                  <a:lnTo>
                    <a:pt x="10469372" y="2666492"/>
                  </a:lnTo>
                  <a:cubicBezTo>
                    <a:pt x="10578084" y="2666492"/>
                    <a:pt x="10665968" y="2579370"/>
                    <a:pt x="10665968" y="2472182"/>
                  </a:cubicBezTo>
                  <a:lnTo>
                    <a:pt x="10665968" y="232410"/>
                  </a:lnTo>
                  <a:cubicBezTo>
                    <a:pt x="10665968" y="125349"/>
                    <a:pt x="10578211" y="38100"/>
                    <a:pt x="10469372" y="38100"/>
                  </a:cubicBezTo>
                  <a:lnTo>
                    <a:pt x="234696" y="38100"/>
                  </a:lnTo>
                  <a:lnTo>
                    <a:pt x="234696" y="19050"/>
                  </a:lnTo>
                  <a:lnTo>
                    <a:pt x="234696" y="38100"/>
                  </a:lnTo>
                  <a:cubicBezTo>
                    <a:pt x="125857" y="38100"/>
                    <a:pt x="38100" y="125222"/>
                    <a:pt x="38100" y="232410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56451" y="6656680"/>
            <a:ext cx="7428052" cy="1828448"/>
            <a:chOff x="0" y="0"/>
            <a:chExt cx="9904070" cy="24379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04066" cy="2437924"/>
            </a:xfrm>
            <a:custGeom>
              <a:avLst/>
              <a:gdLst/>
              <a:ahLst/>
              <a:cxnLst/>
              <a:rect r="r" b="b" t="t" l="l"/>
              <a:pathLst>
                <a:path h="2437924" w="9904066">
                  <a:moveTo>
                    <a:pt x="0" y="0"/>
                  </a:moveTo>
                  <a:lnTo>
                    <a:pt x="9904066" y="0"/>
                  </a:lnTo>
                  <a:lnTo>
                    <a:pt x="9904066" y="2437924"/>
                  </a:lnTo>
                  <a:lnTo>
                    <a:pt x="0" y="2437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57" r="0" b="-291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9904070" cy="2561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687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TVK SC win rate: 52.3%</a:t>
              </a:r>
            </a:p>
            <a:p>
              <a:pPr algn="l">
                <a:lnSpc>
                  <a:spcPts val="3239"/>
                </a:lnSpc>
              </a:pPr>
              <a:r>
                <a:rPr lang="en-US" sz="1687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TVK GEN win rate: 44.7%</a:t>
              </a:r>
            </a:p>
            <a:p>
              <a:pPr algn="l">
                <a:lnSpc>
                  <a:spcPts val="3239"/>
                </a:lnSpc>
              </a:pP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TVK performed </a:t>
              </a:r>
              <a:r>
                <a:rPr lang="en-US" sz="1687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7.6 percentage points</a:t>
              </a: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stronger in reserved constituencies than in general constituencies.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86212" y="2399890"/>
            <a:ext cx="8857788" cy="4122558"/>
          </a:xfrm>
          <a:custGeom>
            <a:avLst/>
            <a:gdLst/>
            <a:ahLst/>
            <a:cxnLst/>
            <a:rect r="r" b="b" t="t" l="l"/>
            <a:pathLst>
              <a:path h="4122558" w="8857788">
                <a:moveTo>
                  <a:pt x="0" y="0"/>
                </a:moveTo>
                <a:lnTo>
                  <a:pt x="8857788" y="0"/>
                </a:lnTo>
                <a:lnTo>
                  <a:pt x="8857788" y="4122558"/>
                </a:lnTo>
                <a:lnTo>
                  <a:pt x="0" y="4122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856451" y="2018890"/>
            <a:ext cx="7428052" cy="83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SC seats 2021: </a:t>
            </a: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21</a:t>
            </a: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　→　SC seats 2026: </a:t>
            </a: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9</a:t>
            </a:r>
          </a:p>
          <a:p>
            <a:pPr algn="l">
              <a:lnSpc>
                <a:spcPts val="2834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Lost </a:t>
            </a: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57%</a:t>
            </a: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of reserved hold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56451" y="3618776"/>
            <a:ext cx="7428052" cy="83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SC seats 2021: </a:t>
            </a: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16</a:t>
            </a: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　→　SC seats 2026: </a:t>
            </a: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8</a:t>
            </a:r>
          </a:p>
          <a:p>
            <a:pPr algn="l">
              <a:lnSpc>
                <a:spcPts val="2834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Lost </a:t>
            </a: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50%</a:t>
            </a: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of reserved hold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56451" y="5218662"/>
            <a:ext cx="7428052" cy="83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SC seats 2021: </a:t>
            </a: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0</a:t>
            </a: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　→　SC seats 2026: </a:t>
            </a: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23</a:t>
            </a:r>
          </a:p>
          <a:p>
            <a:pPr algn="l">
              <a:lnSpc>
                <a:spcPts val="2834"/>
              </a:lnSpc>
            </a:pP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Single largest SC seat holder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5713183" cy="571386"/>
            <a:chOff x="0" y="0"/>
            <a:chExt cx="20950911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0909" cy="761851"/>
            </a:xfrm>
            <a:custGeom>
              <a:avLst/>
              <a:gdLst/>
              <a:ahLst/>
              <a:cxnLst/>
              <a:rect r="r" b="b" t="t" l="l"/>
              <a:pathLst>
                <a:path h="761851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950911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The Map Says Landslide. The Votes Say Something Else.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Q6 · Margin of Victory · Average win share across 234 constituencies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04552" y="1849869"/>
            <a:ext cx="4014006" cy="2299840"/>
            <a:chOff x="0" y="0"/>
            <a:chExt cx="5352009" cy="30664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5332984" cy="3047492"/>
            </a:xfrm>
            <a:custGeom>
              <a:avLst/>
              <a:gdLst/>
              <a:ahLst/>
              <a:cxnLst/>
              <a:rect r="r" b="b" t="t" l="l"/>
              <a:pathLst>
                <a:path h="3047492" w="5332984">
                  <a:moveTo>
                    <a:pt x="0" y="243840"/>
                  </a:moveTo>
                  <a:cubicBezTo>
                    <a:pt x="0" y="109093"/>
                    <a:pt x="109474" y="0"/>
                    <a:pt x="244475" y="0"/>
                  </a:cubicBezTo>
                  <a:lnTo>
                    <a:pt x="5088509" y="0"/>
                  </a:lnTo>
                  <a:cubicBezTo>
                    <a:pt x="5223510" y="0"/>
                    <a:pt x="5332984" y="109093"/>
                    <a:pt x="5332984" y="243840"/>
                  </a:cubicBezTo>
                  <a:lnTo>
                    <a:pt x="5332984" y="2803652"/>
                  </a:lnTo>
                  <a:cubicBezTo>
                    <a:pt x="5332984" y="2938272"/>
                    <a:pt x="5223510" y="3047492"/>
                    <a:pt x="5088509" y="3047492"/>
                  </a:cubicBezTo>
                  <a:lnTo>
                    <a:pt x="244475" y="3047492"/>
                  </a:lnTo>
                  <a:cubicBezTo>
                    <a:pt x="109474" y="3047365"/>
                    <a:pt x="0" y="2938272"/>
                    <a:pt x="0" y="280365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52034" cy="3066542"/>
            </a:xfrm>
            <a:custGeom>
              <a:avLst/>
              <a:gdLst/>
              <a:ahLst/>
              <a:cxnLst/>
              <a:rect r="r" b="b" t="t" l="l"/>
              <a:pathLst>
                <a:path h="3066542" w="5352034">
                  <a:moveTo>
                    <a:pt x="0" y="253365"/>
                  </a:moveTo>
                  <a:cubicBezTo>
                    <a:pt x="0" y="113411"/>
                    <a:pt x="113665" y="0"/>
                    <a:pt x="254000" y="0"/>
                  </a:cubicBezTo>
                  <a:lnTo>
                    <a:pt x="5098034" y="0"/>
                  </a:lnTo>
                  <a:lnTo>
                    <a:pt x="5098034" y="9525"/>
                  </a:lnTo>
                  <a:lnTo>
                    <a:pt x="5098034" y="0"/>
                  </a:lnTo>
                  <a:cubicBezTo>
                    <a:pt x="5238242" y="0"/>
                    <a:pt x="5352034" y="113411"/>
                    <a:pt x="5352034" y="253365"/>
                  </a:cubicBezTo>
                  <a:lnTo>
                    <a:pt x="5342509" y="253365"/>
                  </a:lnTo>
                  <a:lnTo>
                    <a:pt x="5352034" y="253365"/>
                  </a:lnTo>
                  <a:lnTo>
                    <a:pt x="5352034" y="2813177"/>
                  </a:lnTo>
                  <a:lnTo>
                    <a:pt x="5342509" y="2813177"/>
                  </a:lnTo>
                  <a:lnTo>
                    <a:pt x="5352034" y="2813177"/>
                  </a:lnTo>
                  <a:cubicBezTo>
                    <a:pt x="5352034" y="2953131"/>
                    <a:pt x="5238369" y="3066542"/>
                    <a:pt x="5098034" y="3066542"/>
                  </a:cubicBezTo>
                  <a:lnTo>
                    <a:pt x="5098034" y="3057017"/>
                  </a:lnTo>
                  <a:lnTo>
                    <a:pt x="5098034" y="3066542"/>
                  </a:lnTo>
                  <a:lnTo>
                    <a:pt x="254000" y="3066542"/>
                  </a:lnTo>
                  <a:lnTo>
                    <a:pt x="254000" y="3057017"/>
                  </a:lnTo>
                  <a:lnTo>
                    <a:pt x="254000" y="3066542"/>
                  </a:lnTo>
                  <a:cubicBezTo>
                    <a:pt x="113792" y="3066542"/>
                    <a:pt x="0" y="2953131"/>
                    <a:pt x="0" y="2813177"/>
                  </a:cubicBezTo>
                  <a:lnTo>
                    <a:pt x="0" y="253365"/>
                  </a:lnTo>
                  <a:lnTo>
                    <a:pt x="9525" y="253365"/>
                  </a:lnTo>
                  <a:lnTo>
                    <a:pt x="0" y="253365"/>
                  </a:lnTo>
                  <a:moveTo>
                    <a:pt x="19050" y="253365"/>
                  </a:moveTo>
                  <a:lnTo>
                    <a:pt x="19050" y="2813177"/>
                  </a:lnTo>
                  <a:lnTo>
                    <a:pt x="9525" y="2813177"/>
                  </a:lnTo>
                  <a:lnTo>
                    <a:pt x="19050" y="2813177"/>
                  </a:lnTo>
                  <a:cubicBezTo>
                    <a:pt x="19050" y="2942590"/>
                    <a:pt x="124206" y="3047492"/>
                    <a:pt x="254000" y="3047492"/>
                  </a:cubicBezTo>
                  <a:lnTo>
                    <a:pt x="5098034" y="3047492"/>
                  </a:lnTo>
                  <a:cubicBezTo>
                    <a:pt x="5227828" y="3047492"/>
                    <a:pt x="5332984" y="2942590"/>
                    <a:pt x="5332984" y="2813177"/>
                  </a:cubicBezTo>
                  <a:lnTo>
                    <a:pt x="5332984" y="253365"/>
                  </a:lnTo>
                  <a:cubicBezTo>
                    <a:pt x="5332984" y="123952"/>
                    <a:pt x="5227828" y="19050"/>
                    <a:pt x="5098034" y="19050"/>
                  </a:cubicBezTo>
                  <a:lnTo>
                    <a:pt x="254000" y="19050"/>
                  </a:lnTo>
                  <a:lnTo>
                    <a:pt x="254000" y="9525"/>
                  </a:lnTo>
                  <a:lnTo>
                    <a:pt x="254000" y="19050"/>
                  </a:lnTo>
                  <a:cubicBezTo>
                    <a:pt x="124206" y="19050"/>
                    <a:pt x="19050" y="123952"/>
                    <a:pt x="19050" y="25336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18831" y="2028425"/>
            <a:ext cx="3999719" cy="999925"/>
            <a:chOff x="0" y="0"/>
            <a:chExt cx="5332959" cy="133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2959" cy="1333240"/>
            </a:xfrm>
            <a:custGeom>
              <a:avLst/>
              <a:gdLst/>
              <a:ahLst/>
              <a:cxnLst/>
              <a:rect r="r" b="b" t="t" l="l"/>
              <a:pathLst>
                <a:path h="133324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3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332959" cy="134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18"/>
                </a:lnSpc>
              </a:pPr>
              <a:r>
                <a:rPr lang="en-US" sz="5848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48.4%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09264" y="3142640"/>
            <a:ext cx="3999719" cy="342833"/>
            <a:chOff x="0" y="0"/>
            <a:chExt cx="5332959" cy="457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2959" cy="457111"/>
            </a:xfrm>
            <a:custGeom>
              <a:avLst/>
              <a:gdLst/>
              <a:ahLst/>
              <a:cxnLst/>
              <a:rect r="r" b="b" t="t" l="l"/>
              <a:pathLst>
                <a:path h="457111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33295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Average winner's vote share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85489" y="3542605"/>
            <a:ext cx="3999719" cy="342833"/>
            <a:chOff x="0" y="0"/>
            <a:chExt cx="5332959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32959" cy="457111"/>
            </a:xfrm>
            <a:custGeom>
              <a:avLst/>
              <a:gdLst/>
              <a:ahLst/>
              <a:cxnLst/>
              <a:rect r="r" b="b" t="t" l="l"/>
              <a:pathLst>
                <a:path h="457111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3295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2021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51845" y="2142706"/>
            <a:ext cx="857079" cy="571386"/>
            <a:chOff x="0" y="0"/>
            <a:chExt cx="1142771" cy="761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2777" cy="761851"/>
            </a:xfrm>
            <a:custGeom>
              <a:avLst/>
              <a:gdLst/>
              <a:ahLst/>
              <a:cxnLst/>
              <a:rect r="r" b="b" t="t" l="l"/>
              <a:pathLst>
                <a:path h="761851" w="1142777">
                  <a:moveTo>
                    <a:pt x="0" y="0"/>
                  </a:moveTo>
                  <a:lnTo>
                    <a:pt x="1142777" y="0"/>
                  </a:lnTo>
                  <a:lnTo>
                    <a:pt x="1142777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142771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▼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66183" y="2714092"/>
            <a:ext cx="2285552" cy="514245"/>
            <a:chOff x="0" y="0"/>
            <a:chExt cx="3047403" cy="685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7405" cy="685666"/>
            </a:xfrm>
            <a:custGeom>
              <a:avLst/>
              <a:gdLst/>
              <a:ahLst/>
              <a:cxnLst/>
              <a:rect r="r" b="b" t="t" l="l"/>
              <a:pathLst>
                <a:path h="685666" w="3047405">
                  <a:moveTo>
                    <a:pt x="0" y="0"/>
                  </a:moveTo>
                  <a:lnTo>
                    <a:pt x="3047405" y="0"/>
                  </a:lnTo>
                  <a:lnTo>
                    <a:pt x="3047405" y="685666"/>
                  </a:lnTo>
                  <a:lnTo>
                    <a:pt x="0" y="6856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5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047403" cy="695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9"/>
                </a:lnSpc>
              </a:pPr>
              <a:r>
                <a:rPr lang="en-US" sz="24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−9.6 pp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70925" y="3285487"/>
            <a:ext cx="2285552" cy="342833"/>
            <a:chOff x="0" y="0"/>
            <a:chExt cx="3047403" cy="457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7405" cy="457111"/>
            </a:xfrm>
            <a:custGeom>
              <a:avLst/>
              <a:gdLst/>
              <a:ahLst/>
              <a:cxnLst/>
              <a:rect r="r" b="b" t="t" l="l"/>
              <a:pathLst>
                <a:path h="457111" w="3047405">
                  <a:moveTo>
                    <a:pt x="0" y="0"/>
                  </a:moveTo>
                  <a:lnTo>
                    <a:pt x="3047405" y="0"/>
                  </a:lnTo>
                  <a:lnTo>
                    <a:pt x="3047405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047403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dropped in one election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94605" y="1842726"/>
            <a:ext cx="4028284" cy="2314127"/>
            <a:chOff x="0" y="0"/>
            <a:chExt cx="5371046" cy="30855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5332984" cy="3047492"/>
            </a:xfrm>
            <a:custGeom>
              <a:avLst/>
              <a:gdLst/>
              <a:ahLst/>
              <a:cxnLst/>
              <a:rect r="r" b="b" t="t" l="l"/>
              <a:pathLst>
                <a:path h="3047492" w="5332984">
                  <a:moveTo>
                    <a:pt x="0" y="243840"/>
                  </a:moveTo>
                  <a:cubicBezTo>
                    <a:pt x="0" y="109220"/>
                    <a:pt x="109728" y="0"/>
                    <a:pt x="245110" y="0"/>
                  </a:cubicBezTo>
                  <a:lnTo>
                    <a:pt x="5087874" y="0"/>
                  </a:lnTo>
                  <a:cubicBezTo>
                    <a:pt x="5223256" y="0"/>
                    <a:pt x="5332984" y="109093"/>
                    <a:pt x="5332984" y="243840"/>
                  </a:cubicBezTo>
                  <a:lnTo>
                    <a:pt x="5332984" y="2803652"/>
                  </a:lnTo>
                  <a:cubicBezTo>
                    <a:pt x="5332984" y="2938272"/>
                    <a:pt x="5223256" y="3047492"/>
                    <a:pt x="5087874" y="3047492"/>
                  </a:cubicBezTo>
                  <a:lnTo>
                    <a:pt x="245110" y="3047492"/>
                  </a:lnTo>
                  <a:cubicBezTo>
                    <a:pt x="109728" y="3047492"/>
                    <a:pt x="0" y="2938399"/>
                    <a:pt x="0" y="2803652"/>
                  </a:cubicBezTo>
                  <a:close/>
                </a:path>
              </a:pathLst>
            </a:custGeom>
            <a:solidFill>
              <a:srgbClr val="E87722">
                <a:alpha val="39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71084" cy="3085592"/>
            </a:xfrm>
            <a:custGeom>
              <a:avLst/>
              <a:gdLst/>
              <a:ahLst/>
              <a:cxnLst/>
              <a:rect r="r" b="b" t="t" l="l"/>
              <a:pathLst>
                <a:path h="3085592" w="5371084">
                  <a:moveTo>
                    <a:pt x="0" y="262890"/>
                  </a:moveTo>
                  <a:cubicBezTo>
                    <a:pt x="0" y="117602"/>
                    <a:pt x="118364" y="0"/>
                    <a:pt x="264160" y="0"/>
                  </a:cubicBezTo>
                  <a:lnTo>
                    <a:pt x="5106924" y="0"/>
                  </a:lnTo>
                  <a:lnTo>
                    <a:pt x="5106924" y="19050"/>
                  </a:lnTo>
                  <a:lnTo>
                    <a:pt x="5106924" y="0"/>
                  </a:lnTo>
                  <a:cubicBezTo>
                    <a:pt x="5252720" y="0"/>
                    <a:pt x="5371084" y="117602"/>
                    <a:pt x="5371084" y="262890"/>
                  </a:cubicBezTo>
                  <a:lnTo>
                    <a:pt x="5352034" y="262890"/>
                  </a:lnTo>
                  <a:lnTo>
                    <a:pt x="5371084" y="262890"/>
                  </a:lnTo>
                  <a:lnTo>
                    <a:pt x="5371084" y="2822702"/>
                  </a:lnTo>
                  <a:lnTo>
                    <a:pt x="5352034" y="2822702"/>
                  </a:lnTo>
                  <a:lnTo>
                    <a:pt x="5371084" y="2822702"/>
                  </a:lnTo>
                  <a:cubicBezTo>
                    <a:pt x="5371084" y="2967990"/>
                    <a:pt x="5252720" y="3085592"/>
                    <a:pt x="5106924" y="3085592"/>
                  </a:cubicBezTo>
                  <a:lnTo>
                    <a:pt x="5106924" y="3066542"/>
                  </a:lnTo>
                  <a:lnTo>
                    <a:pt x="5106924" y="3085592"/>
                  </a:lnTo>
                  <a:lnTo>
                    <a:pt x="264160" y="3085592"/>
                  </a:lnTo>
                  <a:lnTo>
                    <a:pt x="264160" y="3066542"/>
                  </a:lnTo>
                  <a:lnTo>
                    <a:pt x="264160" y="3085592"/>
                  </a:lnTo>
                  <a:cubicBezTo>
                    <a:pt x="118364" y="3085592"/>
                    <a:pt x="0" y="2967990"/>
                    <a:pt x="0" y="2822702"/>
                  </a:cubicBezTo>
                  <a:lnTo>
                    <a:pt x="0" y="262890"/>
                  </a:lnTo>
                  <a:lnTo>
                    <a:pt x="19050" y="262890"/>
                  </a:lnTo>
                  <a:lnTo>
                    <a:pt x="0" y="262890"/>
                  </a:lnTo>
                  <a:moveTo>
                    <a:pt x="38100" y="262890"/>
                  </a:moveTo>
                  <a:lnTo>
                    <a:pt x="38100" y="2822702"/>
                  </a:lnTo>
                  <a:lnTo>
                    <a:pt x="19050" y="2822702"/>
                  </a:lnTo>
                  <a:lnTo>
                    <a:pt x="38100" y="2822702"/>
                  </a:lnTo>
                  <a:cubicBezTo>
                    <a:pt x="38100" y="2946781"/>
                    <a:pt x="139192" y="3047492"/>
                    <a:pt x="264160" y="3047492"/>
                  </a:cubicBezTo>
                  <a:lnTo>
                    <a:pt x="5106924" y="3047492"/>
                  </a:lnTo>
                  <a:cubicBezTo>
                    <a:pt x="5231892" y="3047492"/>
                    <a:pt x="5332984" y="2946781"/>
                    <a:pt x="5332984" y="2822702"/>
                  </a:cubicBezTo>
                  <a:lnTo>
                    <a:pt x="5332984" y="262890"/>
                  </a:lnTo>
                  <a:cubicBezTo>
                    <a:pt x="5332984" y="138811"/>
                    <a:pt x="5231892" y="38100"/>
                    <a:pt x="5106924" y="38100"/>
                  </a:cubicBezTo>
                  <a:lnTo>
                    <a:pt x="264160" y="38100"/>
                  </a:lnTo>
                  <a:lnTo>
                    <a:pt x="264160" y="19050"/>
                  </a:lnTo>
                  <a:lnTo>
                    <a:pt x="264160" y="38100"/>
                  </a:lnTo>
                  <a:cubicBezTo>
                    <a:pt x="139192" y="38100"/>
                    <a:pt x="38100" y="138811"/>
                    <a:pt x="38100" y="262890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27840" y="2028425"/>
            <a:ext cx="3999719" cy="999925"/>
            <a:chOff x="0" y="0"/>
            <a:chExt cx="5332959" cy="13332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2959" cy="1333240"/>
            </a:xfrm>
            <a:custGeom>
              <a:avLst/>
              <a:gdLst/>
              <a:ahLst/>
              <a:cxnLst/>
              <a:rect r="r" b="b" t="t" l="l"/>
              <a:pathLst>
                <a:path h="133324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3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332959" cy="1342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18"/>
                </a:lnSpc>
              </a:pPr>
              <a:r>
                <a:rPr lang="en-US" sz="5848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38.8%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13630" y="3142640"/>
            <a:ext cx="3999719" cy="342833"/>
            <a:chOff x="0" y="0"/>
            <a:chExt cx="5332959" cy="457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32959" cy="457111"/>
            </a:xfrm>
            <a:custGeom>
              <a:avLst/>
              <a:gdLst/>
              <a:ahLst/>
              <a:cxnLst/>
              <a:rect r="r" b="b" t="t" l="l"/>
              <a:pathLst>
                <a:path h="457111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33295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Average winner's vote share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94605" y="3485474"/>
            <a:ext cx="3999719" cy="342833"/>
            <a:chOff x="0" y="0"/>
            <a:chExt cx="5332959" cy="457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32959" cy="457110"/>
            </a:xfrm>
            <a:custGeom>
              <a:avLst/>
              <a:gdLst/>
              <a:ahLst/>
              <a:cxnLst/>
              <a:rect r="r" b="b" t="t" l="l"/>
              <a:pathLst>
                <a:path h="45711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457110"/>
                  </a:lnTo>
                  <a:lnTo>
                    <a:pt x="0" y="4571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33295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2026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92716" y="4706807"/>
            <a:ext cx="6870944" cy="871366"/>
            <a:chOff x="0" y="0"/>
            <a:chExt cx="9161259" cy="11618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525" y="9525"/>
              <a:ext cx="9142223" cy="1142746"/>
            </a:xfrm>
            <a:custGeom>
              <a:avLst/>
              <a:gdLst/>
              <a:ahLst/>
              <a:cxnLst/>
              <a:rect r="r" b="b" t="t" l="l"/>
              <a:pathLst>
                <a:path h="1142746" w="9142223">
                  <a:moveTo>
                    <a:pt x="0" y="68580"/>
                  </a:moveTo>
                  <a:cubicBezTo>
                    <a:pt x="0" y="30734"/>
                    <a:pt x="31115" y="0"/>
                    <a:pt x="69596" y="0"/>
                  </a:cubicBezTo>
                  <a:lnTo>
                    <a:pt x="9072626" y="0"/>
                  </a:lnTo>
                  <a:cubicBezTo>
                    <a:pt x="9111107" y="0"/>
                    <a:pt x="9142223" y="30734"/>
                    <a:pt x="9142223" y="68580"/>
                  </a:cubicBezTo>
                  <a:lnTo>
                    <a:pt x="9142223" y="1074166"/>
                  </a:lnTo>
                  <a:cubicBezTo>
                    <a:pt x="9142223" y="1112012"/>
                    <a:pt x="9111107" y="1142746"/>
                    <a:pt x="9072626" y="1142746"/>
                  </a:cubicBezTo>
                  <a:lnTo>
                    <a:pt x="69596" y="1142746"/>
                  </a:lnTo>
                  <a:cubicBezTo>
                    <a:pt x="31115" y="1142746"/>
                    <a:pt x="0" y="1112012"/>
                    <a:pt x="0" y="107416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61273" cy="1161796"/>
            </a:xfrm>
            <a:custGeom>
              <a:avLst/>
              <a:gdLst/>
              <a:ahLst/>
              <a:cxnLst/>
              <a:rect r="r" b="b" t="t" l="l"/>
              <a:pathLst>
                <a:path h="1161796" w="9161273">
                  <a:moveTo>
                    <a:pt x="0" y="78105"/>
                  </a:moveTo>
                  <a:cubicBezTo>
                    <a:pt x="0" y="34798"/>
                    <a:pt x="35560" y="0"/>
                    <a:pt x="79121" y="0"/>
                  </a:cubicBezTo>
                  <a:lnTo>
                    <a:pt x="9082151" y="0"/>
                  </a:lnTo>
                  <a:lnTo>
                    <a:pt x="9082151" y="9525"/>
                  </a:lnTo>
                  <a:lnTo>
                    <a:pt x="9082151" y="0"/>
                  </a:lnTo>
                  <a:cubicBezTo>
                    <a:pt x="9125712" y="0"/>
                    <a:pt x="9161273" y="34798"/>
                    <a:pt x="9161273" y="78105"/>
                  </a:cubicBezTo>
                  <a:lnTo>
                    <a:pt x="9151748" y="78105"/>
                  </a:lnTo>
                  <a:lnTo>
                    <a:pt x="9161273" y="78105"/>
                  </a:lnTo>
                  <a:lnTo>
                    <a:pt x="9161273" y="1083691"/>
                  </a:lnTo>
                  <a:lnTo>
                    <a:pt x="9151748" y="1083691"/>
                  </a:lnTo>
                  <a:lnTo>
                    <a:pt x="9161273" y="1083691"/>
                  </a:lnTo>
                  <a:cubicBezTo>
                    <a:pt x="9161273" y="1126998"/>
                    <a:pt x="9125712" y="1161796"/>
                    <a:pt x="9082151" y="1161796"/>
                  </a:cubicBezTo>
                  <a:lnTo>
                    <a:pt x="9082151" y="1152271"/>
                  </a:lnTo>
                  <a:lnTo>
                    <a:pt x="9082151" y="1161796"/>
                  </a:lnTo>
                  <a:lnTo>
                    <a:pt x="79121" y="1161796"/>
                  </a:lnTo>
                  <a:lnTo>
                    <a:pt x="79121" y="1152271"/>
                  </a:lnTo>
                  <a:lnTo>
                    <a:pt x="79121" y="1161796"/>
                  </a:lnTo>
                  <a:cubicBezTo>
                    <a:pt x="35560" y="1161796"/>
                    <a:pt x="0" y="1126998"/>
                    <a:pt x="0" y="1083691"/>
                  </a:cubicBezTo>
                  <a:lnTo>
                    <a:pt x="0" y="78105"/>
                  </a:lnTo>
                  <a:lnTo>
                    <a:pt x="9525" y="78105"/>
                  </a:lnTo>
                  <a:lnTo>
                    <a:pt x="0" y="78105"/>
                  </a:lnTo>
                  <a:moveTo>
                    <a:pt x="19050" y="78105"/>
                  </a:moveTo>
                  <a:lnTo>
                    <a:pt x="19050" y="1083691"/>
                  </a:lnTo>
                  <a:lnTo>
                    <a:pt x="9525" y="1083691"/>
                  </a:lnTo>
                  <a:lnTo>
                    <a:pt x="19050" y="1083691"/>
                  </a:lnTo>
                  <a:cubicBezTo>
                    <a:pt x="19050" y="1116203"/>
                    <a:pt x="45847" y="1142746"/>
                    <a:pt x="79121" y="1142746"/>
                  </a:cubicBezTo>
                  <a:lnTo>
                    <a:pt x="9082151" y="1142746"/>
                  </a:lnTo>
                  <a:cubicBezTo>
                    <a:pt x="9115425" y="1142746"/>
                    <a:pt x="9142223" y="1116203"/>
                    <a:pt x="9142223" y="1083691"/>
                  </a:cubicBezTo>
                  <a:lnTo>
                    <a:pt x="9142223" y="78105"/>
                  </a:lnTo>
                  <a:cubicBezTo>
                    <a:pt x="9142223" y="45593"/>
                    <a:pt x="9115425" y="19050"/>
                    <a:pt x="9082151" y="19050"/>
                  </a:cubicBezTo>
                  <a:lnTo>
                    <a:pt x="79121" y="19050"/>
                  </a:lnTo>
                  <a:lnTo>
                    <a:pt x="79121" y="9525"/>
                  </a:lnTo>
                  <a:lnTo>
                    <a:pt x="79121" y="19050"/>
                  </a:lnTo>
                  <a:cubicBezTo>
                    <a:pt x="45847" y="19050"/>
                    <a:pt x="19050" y="45593"/>
                    <a:pt x="19050" y="7810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285552" y="4713951"/>
            <a:ext cx="6285271" cy="857079"/>
            <a:chOff x="0" y="0"/>
            <a:chExt cx="8380362" cy="11427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80363" cy="1142777"/>
            </a:xfrm>
            <a:custGeom>
              <a:avLst/>
              <a:gdLst/>
              <a:ahLst/>
              <a:cxnLst/>
              <a:rect r="r" b="b" t="t" l="l"/>
              <a:pathLst>
                <a:path h="1142777" w="8380363">
                  <a:moveTo>
                    <a:pt x="0" y="0"/>
                  </a:moveTo>
                  <a:lnTo>
                    <a:pt x="8380363" y="0"/>
                  </a:lnTo>
                  <a:lnTo>
                    <a:pt x="8380363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8380362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Seats won &gt;50% in 2021: </a:t>
              </a:r>
              <a:r>
                <a:rPr lang="en-US" sz="179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20768" y="4706807"/>
            <a:ext cx="6870944" cy="871366"/>
            <a:chOff x="0" y="0"/>
            <a:chExt cx="9161259" cy="11618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9525" y="9525"/>
              <a:ext cx="9142223" cy="1142746"/>
            </a:xfrm>
            <a:custGeom>
              <a:avLst/>
              <a:gdLst/>
              <a:ahLst/>
              <a:cxnLst/>
              <a:rect r="r" b="b" t="t" l="l"/>
              <a:pathLst>
                <a:path h="1142746" w="9142223">
                  <a:moveTo>
                    <a:pt x="0" y="68580"/>
                  </a:moveTo>
                  <a:cubicBezTo>
                    <a:pt x="0" y="30734"/>
                    <a:pt x="31115" y="0"/>
                    <a:pt x="69596" y="0"/>
                  </a:cubicBezTo>
                  <a:lnTo>
                    <a:pt x="9072626" y="0"/>
                  </a:lnTo>
                  <a:cubicBezTo>
                    <a:pt x="9111107" y="0"/>
                    <a:pt x="9142223" y="30734"/>
                    <a:pt x="9142223" y="68580"/>
                  </a:cubicBezTo>
                  <a:lnTo>
                    <a:pt x="9142223" y="1074166"/>
                  </a:lnTo>
                  <a:cubicBezTo>
                    <a:pt x="9142223" y="1112012"/>
                    <a:pt x="9111107" y="1142746"/>
                    <a:pt x="9072626" y="1142746"/>
                  </a:cubicBezTo>
                  <a:lnTo>
                    <a:pt x="69596" y="1142746"/>
                  </a:lnTo>
                  <a:cubicBezTo>
                    <a:pt x="31115" y="1142746"/>
                    <a:pt x="0" y="1112012"/>
                    <a:pt x="0" y="107416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61273" cy="1161796"/>
            </a:xfrm>
            <a:custGeom>
              <a:avLst/>
              <a:gdLst/>
              <a:ahLst/>
              <a:cxnLst/>
              <a:rect r="r" b="b" t="t" l="l"/>
              <a:pathLst>
                <a:path h="1161796" w="9161273">
                  <a:moveTo>
                    <a:pt x="0" y="78105"/>
                  </a:moveTo>
                  <a:cubicBezTo>
                    <a:pt x="0" y="34798"/>
                    <a:pt x="35560" y="0"/>
                    <a:pt x="79121" y="0"/>
                  </a:cubicBezTo>
                  <a:lnTo>
                    <a:pt x="9082151" y="0"/>
                  </a:lnTo>
                  <a:lnTo>
                    <a:pt x="9082151" y="9525"/>
                  </a:lnTo>
                  <a:lnTo>
                    <a:pt x="9082151" y="0"/>
                  </a:lnTo>
                  <a:cubicBezTo>
                    <a:pt x="9125712" y="0"/>
                    <a:pt x="9161273" y="34798"/>
                    <a:pt x="9161273" y="78105"/>
                  </a:cubicBezTo>
                  <a:lnTo>
                    <a:pt x="9151748" y="78105"/>
                  </a:lnTo>
                  <a:lnTo>
                    <a:pt x="9161273" y="78105"/>
                  </a:lnTo>
                  <a:lnTo>
                    <a:pt x="9161273" y="1083691"/>
                  </a:lnTo>
                  <a:lnTo>
                    <a:pt x="9151748" y="1083691"/>
                  </a:lnTo>
                  <a:lnTo>
                    <a:pt x="9161273" y="1083691"/>
                  </a:lnTo>
                  <a:cubicBezTo>
                    <a:pt x="9161273" y="1126998"/>
                    <a:pt x="9125712" y="1161796"/>
                    <a:pt x="9082151" y="1161796"/>
                  </a:cubicBezTo>
                  <a:lnTo>
                    <a:pt x="9082151" y="1152271"/>
                  </a:lnTo>
                  <a:lnTo>
                    <a:pt x="9082151" y="1161796"/>
                  </a:lnTo>
                  <a:lnTo>
                    <a:pt x="79121" y="1161796"/>
                  </a:lnTo>
                  <a:lnTo>
                    <a:pt x="79121" y="1152271"/>
                  </a:lnTo>
                  <a:lnTo>
                    <a:pt x="79121" y="1161796"/>
                  </a:lnTo>
                  <a:cubicBezTo>
                    <a:pt x="35560" y="1161796"/>
                    <a:pt x="0" y="1126998"/>
                    <a:pt x="0" y="1083691"/>
                  </a:cubicBezTo>
                  <a:lnTo>
                    <a:pt x="0" y="78105"/>
                  </a:lnTo>
                  <a:lnTo>
                    <a:pt x="9525" y="78105"/>
                  </a:lnTo>
                  <a:lnTo>
                    <a:pt x="0" y="78105"/>
                  </a:lnTo>
                  <a:moveTo>
                    <a:pt x="19050" y="78105"/>
                  </a:moveTo>
                  <a:lnTo>
                    <a:pt x="19050" y="1083691"/>
                  </a:lnTo>
                  <a:lnTo>
                    <a:pt x="9525" y="1083691"/>
                  </a:lnTo>
                  <a:lnTo>
                    <a:pt x="19050" y="1083691"/>
                  </a:lnTo>
                  <a:cubicBezTo>
                    <a:pt x="19050" y="1116203"/>
                    <a:pt x="45847" y="1142746"/>
                    <a:pt x="79121" y="1142746"/>
                  </a:cubicBezTo>
                  <a:lnTo>
                    <a:pt x="9082151" y="1142746"/>
                  </a:lnTo>
                  <a:cubicBezTo>
                    <a:pt x="9115425" y="1142746"/>
                    <a:pt x="9142223" y="1116203"/>
                    <a:pt x="9142223" y="1083691"/>
                  </a:cubicBezTo>
                  <a:lnTo>
                    <a:pt x="9142223" y="78105"/>
                  </a:lnTo>
                  <a:cubicBezTo>
                    <a:pt x="9142223" y="45593"/>
                    <a:pt x="9115425" y="19050"/>
                    <a:pt x="9082151" y="19050"/>
                  </a:cubicBezTo>
                  <a:lnTo>
                    <a:pt x="79121" y="19050"/>
                  </a:lnTo>
                  <a:lnTo>
                    <a:pt x="79121" y="9525"/>
                  </a:lnTo>
                  <a:lnTo>
                    <a:pt x="79121" y="19050"/>
                  </a:lnTo>
                  <a:cubicBezTo>
                    <a:pt x="45847" y="19050"/>
                    <a:pt x="19050" y="45593"/>
                    <a:pt x="19050" y="7810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13605" y="4713951"/>
            <a:ext cx="6285271" cy="857079"/>
            <a:chOff x="0" y="0"/>
            <a:chExt cx="8380362" cy="11427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80363" cy="1142777"/>
            </a:xfrm>
            <a:custGeom>
              <a:avLst/>
              <a:gdLst/>
              <a:ahLst/>
              <a:cxnLst/>
              <a:rect r="r" b="b" t="t" l="l"/>
              <a:pathLst>
                <a:path h="1142777" w="8380363">
                  <a:moveTo>
                    <a:pt x="0" y="0"/>
                  </a:moveTo>
                  <a:lnTo>
                    <a:pt x="8380363" y="0"/>
                  </a:lnTo>
                  <a:lnTo>
                    <a:pt x="8380363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8380362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Seats won &gt;50% in 2026: </a:t>
              </a:r>
              <a:r>
                <a:rPr lang="en-US" sz="179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92716" y="5706742"/>
            <a:ext cx="6870944" cy="871366"/>
            <a:chOff x="0" y="0"/>
            <a:chExt cx="9161259" cy="116182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9525" y="9525"/>
              <a:ext cx="9142223" cy="1142746"/>
            </a:xfrm>
            <a:custGeom>
              <a:avLst/>
              <a:gdLst/>
              <a:ahLst/>
              <a:cxnLst/>
              <a:rect r="r" b="b" t="t" l="l"/>
              <a:pathLst>
                <a:path h="1142746" w="9142223">
                  <a:moveTo>
                    <a:pt x="0" y="68580"/>
                  </a:moveTo>
                  <a:cubicBezTo>
                    <a:pt x="0" y="30734"/>
                    <a:pt x="31115" y="0"/>
                    <a:pt x="69596" y="0"/>
                  </a:cubicBezTo>
                  <a:lnTo>
                    <a:pt x="9072626" y="0"/>
                  </a:lnTo>
                  <a:cubicBezTo>
                    <a:pt x="9111107" y="0"/>
                    <a:pt x="9142223" y="30734"/>
                    <a:pt x="9142223" y="68580"/>
                  </a:cubicBezTo>
                  <a:lnTo>
                    <a:pt x="9142223" y="1074166"/>
                  </a:lnTo>
                  <a:cubicBezTo>
                    <a:pt x="9142223" y="1112012"/>
                    <a:pt x="9111107" y="1142746"/>
                    <a:pt x="9072626" y="1142746"/>
                  </a:cubicBezTo>
                  <a:lnTo>
                    <a:pt x="69596" y="1142746"/>
                  </a:lnTo>
                  <a:cubicBezTo>
                    <a:pt x="31115" y="1142746"/>
                    <a:pt x="0" y="1112012"/>
                    <a:pt x="0" y="107416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61273" cy="1161796"/>
            </a:xfrm>
            <a:custGeom>
              <a:avLst/>
              <a:gdLst/>
              <a:ahLst/>
              <a:cxnLst/>
              <a:rect r="r" b="b" t="t" l="l"/>
              <a:pathLst>
                <a:path h="1161796" w="9161273">
                  <a:moveTo>
                    <a:pt x="0" y="78105"/>
                  </a:moveTo>
                  <a:cubicBezTo>
                    <a:pt x="0" y="34798"/>
                    <a:pt x="35560" y="0"/>
                    <a:pt x="79121" y="0"/>
                  </a:cubicBezTo>
                  <a:lnTo>
                    <a:pt x="9082151" y="0"/>
                  </a:lnTo>
                  <a:lnTo>
                    <a:pt x="9082151" y="9525"/>
                  </a:lnTo>
                  <a:lnTo>
                    <a:pt x="9082151" y="0"/>
                  </a:lnTo>
                  <a:cubicBezTo>
                    <a:pt x="9125712" y="0"/>
                    <a:pt x="9161273" y="34798"/>
                    <a:pt x="9161273" y="78105"/>
                  </a:cubicBezTo>
                  <a:lnTo>
                    <a:pt x="9151748" y="78105"/>
                  </a:lnTo>
                  <a:lnTo>
                    <a:pt x="9161273" y="78105"/>
                  </a:lnTo>
                  <a:lnTo>
                    <a:pt x="9161273" y="1083691"/>
                  </a:lnTo>
                  <a:lnTo>
                    <a:pt x="9151748" y="1083691"/>
                  </a:lnTo>
                  <a:lnTo>
                    <a:pt x="9161273" y="1083691"/>
                  </a:lnTo>
                  <a:cubicBezTo>
                    <a:pt x="9161273" y="1126998"/>
                    <a:pt x="9125712" y="1161796"/>
                    <a:pt x="9082151" y="1161796"/>
                  </a:cubicBezTo>
                  <a:lnTo>
                    <a:pt x="9082151" y="1152271"/>
                  </a:lnTo>
                  <a:lnTo>
                    <a:pt x="9082151" y="1161796"/>
                  </a:lnTo>
                  <a:lnTo>
                    <a:pt x="79121" y="1161796"/>
                  </a:lnTo>
                  <a:lnTo>
                    <a:pt x="79121" y="1152271"/>
                  </a:lnTo>
                  <a:lnTo>
                    <a:pt x="79121" y="1161796"/>
                  </a:lnTo>
                  <a:cubicBezTo>
                    <a:pt x="35560" y="1161796"/>
                    <a:pt x="0" y="1126998"/>
                    <a:pt x="0" y="1083691"/>
                  </a:cubicBezTo>
                  <a:lnTo>
                    <a:pt x="0" y="78105"/>
                  </a:lnTo>
                  <a:lnTo>
                    <a:pt x="9525" y="78105"/>
                  </a:lnTo>
                  <a:lnTo>
                    <a:pt x="0" y="78105"/>
                  </a:lnTo>
                  <a:moveTo>
                    <a:pt x="19050" y="78105"/>
                  </a:moveTo>
                  <a:lnTo>
                    <a:pt x="19050" y="1083691"/>
                  </a:lnTo>
                  <a:lnTo>
                    <a:pt x="9525" y="1083691"/>
                  </a:lnTo>
                  <a:lnTo>
                    <a:pt x="19050" y="1083691"/>
                  </a:lnTo>
                  <a:cubicBezTo>
                    <a:pt x="19050" y="1116203"/>
                    <a:pt x="45847" y="1142746"/>
                    <a:pt x="79121" y="1142746"/>
                  </a:cubicBezTo>
                  <a:lnTo>
                    <a:pt x="9082151" y="1142746"/>
                  </a:lnTo>
                  <a:cubicBezTo>
                    <a:pt x="9115425" y="1142746"/>
                    <a:pt x="9142223" y="1116203"/>
                    <a:pt x="9142223" y="1083691"/>
                  </a:cubicBezTo>
                  <a:lnTo>
                    <a:pt x="9142223" y="78105"/>
                  </a:lnTo>
                  <a:cubicBezTo>
                    <a:pt x="9142223" y="45593"/>
                    <a:pt x="9115425" y="19050"/>
                    <a:pt x="9082151" y="19050"/>
                  </a:cubicBezTo>
                  <a:lnTo>
                    <a:pt x="79121" y="19050"/>
                  </a:lnTo>
                  <a:lnTo>
                    <a:pt x="79121" y="9525"/>
                  </a:lnTo>
                  <a:lnTo>
                    <a:pt x="79121" y="19050"/>
                  </a:lnTo>
                  <a:cubicBezTo>
                    <a:pt x="45847" y="19050"/>
                    <a:pt x="19050" y="45593"/>
                    <a:pt x="19050" y="7810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285552" y="5713886"/>
            <a:ext cx="6285271" cy="857079"/>
            <a:chOff x="0" y="0"/>
            <a:chExt cx="8380362" cy="11427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380363" cy="1142777"/>
            </a:xfrm>
            <a:custGeom>
              <a:avLst/>
              <a:gdLst/>
              <a:ahLst/>
              <a:cxnLst/>
              <a:rect r="r" b="b" t="t" l="l"/>
              <a:pathLst>
                <a:path h="1142777" w="8380363">
                  <a:moveTo>
                    <a:pt x="0" y="0"/>
                  </a:moveTo>
                  <a:lnTo>
                    <a:pt x="8380363" y="0"/>
                  </a:lnTo>
                  <a:lnTo>
                    <a:pt x="8380363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380362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Seats won &lt;35% in 2021: </a:t>
              </a: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20768" y="5706742"/>
            <a:ext cx="6870944" cy="871366"/>
            <a:chOff x="0" y="0"/>
            <a:chExt cx="9161259" cy="116182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9525" y="9525"/>
              <a:ext cx="9142223" cy="1142746"/>
            </a:xfrm>
            <a:custGeom>
              <a:avLst/>
              <a:gdLst/>
              <a:ahLst/>
              <a:cxnLst/>
              <a:rect r="r" b="b" t="t" l="l"/>
              <a:pathLst>
                <a:path h="1142746" w="9142223">
                  <a:moveTo>
                    <a:pt x="0" y="68580"/>
                  </a:moveTo>
                  <a:cubicBezTo>
                    <a:pt x="0" y="30734"/>
                    <a:pt x="31115" y="0"/>
                    <a:pt x="69596" y="0"/>
                  </a:cubicBezTo>
                  <a:lnTo>
                    <a:pt x="9072626" y="0"/>
                  </a:lnTo>
                  <a:cubicBezTo>
                    <a:pt x="9111107" y="0"/>
                    <a:pt x="9142223" y="30734"/>
                    <a:pt x="9142223" y="68580"/>
                  </a:cubicBezTo>
                  <a:lnTo>
                    <a:pt x="9142223" y="1074166"/>
                  </a:lnTo>
                  <a:cubicBezTo>
                    <a:pt x="9142223" y="1112012"/>
                    <a:pt x="9111107" y="1142746"/>
                    <a:pt x="9072626" y="1142746"/>
                  </a:cubicBezTo>
                  <a:lnTo>
                    <a:pt x="69596" y="1142746"/>
                  </a:lnTo>
                  <a:cubicBezTo>
                    <a:pt x="31115" y="1142746"/>
                    <a:pt x="0" y="1112012"/>
                    <a:pt x="0" y="1074166"/>
                  </a:cubicBezTo>
                  <a:close/>
                </a:path>
              </a:pathLst>
            </a:custGeom>
            <a:solidFill>
              <a:srgbClr val="E87722">
                <a:alpha val="39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61273" cy="1161796"/>
            </a:xfrm>
            <a:custGeom>
              <a:avLst/>
              <a:gdLst/>
              <a:ahLst/>
              <a:cxnLst/>
              <a:rect r="r" b="b" t="t" l="l"/>
              <a:pathLst>
                <a:path h="1161796" w="9161273">
                  <a:moveTo>
                    <a:pt x="0" y="78105"/>
                  </a:moveTo>
                  <a:cubicBezTo>
                    <a:pt x="0" y="34798"/>
                    <a:pt x="35560" y="0"/>
                    <a:pt x="79121" y="0"/>
                  </a:cubicBezTo>
                  <a:lnTo>
                    <a:pt x="9082151" y="0"/>
                  </a:lnTo>
                  <a:lnTo>
                    <a:pt x="9082151" y="9525"/>
                  </a:lnTo>
                  <a:lnTo>
                    <a:pt x="9082151" y="0"/>
                  </a:lnTo>
                  <a:cubicBezTo>
                    <a:pt x="9125712" y="0"/>
                    <a:pt x="9161273" y="34798"/>
                    <a:pt x="9161273" y="78105"/>
                  </a:cubicBezTo>
                  <a:lnTo>
                    <a:pt x="9151748" y="78105"/>
                  </a:lnTo>
                  <a:lnTo>
                    <a:pt x="9161273" y="78105"/>
                  </a:lnTo>
                  <a:lnTo>
                    <a:pt x="9161273" y="1083691"/>
                  </a:lnTo>
                  <a:lnTo>
                    <a:pt x="9151748" y="1083691"/>
                  </a:lnTo>
                  <a:lnTo>
                    <a:pt x="9161273" y="1083691"/>
                  </a:lnTo>
                  <a:cubicBezTo>
                    <a:pt x="9161273" y="1126998"/>
                    <a:pt x="9125712" y="1161796"/>
                    <a:pt x="9082151" y="1161796"/>
                  </a:cubicBezTo>
                  <a:lnTo>
                    <a:pt x="9082151" y="1152271"/>
                  </a:lnTo>
                  <a:lnTo>
                    <a:pt x="9082151" y="1161796"/>
                  </a:lnTo>
                  <a:lnTo>
                    <a:pt x="79121" y="1161796"/>
                  </a:lnTo>
                  <a:lnTo>
                    <a:pt x="79121" y="1152271"/>
                  </a:lnTo>
                  <a:lnTo>
                    <a:pt x="79121" y="1161796"/>
                  </a:lnTo>
                  <a:cubicBezTo>
                    <a:pt x="35560" y="1161796"/>
                    <a:pt x="0" y="1126998"/>
                    <a:pt x="0" y="1083691"/>
                  </a:cubicBezTo>
                  <a:lnTo>
                    <a:pt x="0" y="78105"/>
                  </a:lnTo>
                  <a:lnTo>
                    <a:pt x="9525" y="78105"/>
                  </a:lnTo>
                  <a:lnTo>
                    <a:pt x="0" y="78105"/>
                  </a:lnTo>
                  <a:moveTo>
                    <a:pt x="19050" y="78105"/>
                  </a:moveTo>
                  <a:lnTo>
                    <a:pt x="19050" y="1083691"/>
                  </a:lnTo>
                  <a:lnTo>
                    <a:pt x="9525" y="1083691"/>
                  </a:lnTo>
                  <a:lnTo>
                    <a:pt x="19050" y="1083691"/>
                  </a:lnTo>
                  <a:cubicBezTo>
                    <a:pt x="19050" y="1116203"/>
                    <a:pt x="45847" y="1142746"/>
                    <a:pt x="79121" y="1142746"/>
                  </a:cubicBezTo>
                  <a:lnTo>
                    <a:pt x="9082151" y="1142746"/>
                  </a:lnTo>
                  <a:cubicBezTo>
                    <a:pt x="9115425" y="1142746"/>
                    <a:pt x="9142223" y="1116203"/>
                    <a:pt x="9142223" y="1083691"/>
                  </a:cubicBezTo>
                  <a:lnTo>
                    <a:pt x="9142223" y="78105"/>
                  </a:lnTo>
                  <a:cubicBezTo>
                    <a:pt x="9142223" y="45593"/>
                    <a:pt x="9115425" y="19050"/>
                    <a:pt x="9082151" y="19050"/>
                  </a:cubicBezTo>
                  <a:lnTo>
                    <a:pt x="79121" y="19050"/>
                  </a:lnTo>
                  <a:lnTo>
                    <a:pt x="79121" y="9525"/>
                  </a:lnTo>
                  <a:lnTo>
                    <a:pt x="79121" y="19050"/>
                  </a:lnTo>
                  <a:cubicBezTo>
                    <a:pt x="45847" y="19050"/>
                    <a:pt x="19050" y="45593"/>
                    <a:pt x="19050" y="78105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13605" y="5713886"/>
            <a:ext cx="6285271" cy="857079"/>
            <a:chOff x="0" y="0"/>
            <a:chExt cx="8380362" cy="11427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380363" cy="1142777"/>
            </a:xfrm>
            <a:custGeom>
              <a:avLst/>
              <a:gdLst/>
              <a:ahLst/>
              <a:cxnLst/>
              <a:rect r="r" b="b" t="t" l="l"/>
              <a:pathLst>
                <a:path h="1142777" w="8380363">
                  <a:moveTo>
                    <a:pt x="0" y="0"/>
                  </a:moveTo>
                  <a:lnTo>
                    <a:pt x="8380363" y="0"/>
                  </a:lnTo>
                  <a:lnTo>
                    <a:pt x="8380363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8380362" cy="1152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Seats won &lt;35% in 2026: </a:t>
              </a:r>
              <a:r>
                <a:rPr lang="en-US" sz="179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07098" y="7135216"/>
            <a:ext cx="16870242" cy="1871301"/>
            <a:chOff x="0" y="0"/>
            <a:chExt cx="22493656" cy="249506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9525" y="9525"/>
              <a:ext cx="22474682" cy="2475992"/>
            </a:xfrm>
            <a:custGeom>
              <a:avLst/>
              <a:gdLst/>
              <a:ahLst/>
              <a:cxnLst/>
              <a:rect r="r" b="b" t="t" l="l"/>
              <a:pathLst>
                <a:path h="2475992" w="22474682">
                  <a:moveTo>
                    <a:pt x="0" y="148590"/>
                  </a:moveTo>
                  <a:cubicBezTo>
                    <a:pt x="0" y="66548"/>
                    <a:pt x="66929" y="0"/>
                    <a:pt x="149606" y="0"/>
                  </a:cubicBezTo>
                  <a:lnTo>
                    <a:pt x="22325076" y="0"/>
                  </a:lnTo>
                  <a:cubicBezTo>
                    <a:pt x="22407626" y="0"/>
                    <a:pt x="22474682" y="66548"/>
                    <a:pt x="22474682" y="148590"/>
                  </a:cubicBezTo>
                  <a:lnTo>
                    <a:pt x="22474682" y="2327402"/>
                  </a:lnTo>
                  <a:cubicBezTo>
                    <a:pt x="22474682" y="2409444"/>
                    <a:pt x="22407753" y="2475992"/>
                    <a:pt x="22325076" y="2475992"/>
                  </a:cubicBezTo>
                  <a:lnTo>
                    <a:pt x="149606" y="2475992"/>
                  </a:lnTo>
                  <a:cubicBezTo>
                    <a:pt x="67056" y="2475992"/>
                    <a:pt x="0" y="2409444"/>
                    <a:pt x="0" y="232740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493732" cy="2495042"/>
            </a:xfrm>
            <a:custGeom>
              <a:avLst/>
              <a:gdLst/>
              <a:ahLst/>
              <a:cxnLst/>
              <a:rect r="r" b="b" t="t" l="l"/>
              <a:pathLst>
                <a:path h="2495042" w="22493732">
                  <a:moveTo>
                    <a:pt x="0" y="158115"/>
                  </a:moveTo>
                  <a:cubicBezTo>
                    <a:pt x="0" y="70739"/>
                    <a:pt x="71247" y="0"/>
                    <a:pt x="159131" y="0"/>
                  </a:cubicBezTo>
                  <a:lnTo>
                    <a:pt x="22334601" y="0"/>
                  </a:lnTo>
                  <a:lnTo>
                    <a:pt x="22334601" y="9525"/>
                  </a:lnTo>
                  <a:lnTo>
                    <a:pt x="22334601" y="0"/>
                  </a:lnTo>
                  <a:cubicBezTo>
                    <a:pt x="22422358" y="0"/>
                    <a:pt x="22493732" y="70739"/>
                    <a:pt x="22493732" y="158115"/>
                  </a:cubicBezTo>
                  <a:lnTo>
                    <a:pt x="22484207" y="158115"/>
                  </a:lnTo>
                  <a:lnTo>
                    <a:pt x="22493732" y="158115"/>
                  </a:lnTo>
                  <a:lnTo>
                    <a:pt x="22493732" y="2336927"/>
                  </a:lnTo>
                  <a:lnTo>
                    <a:pt x="22484207" y="2336927"/>
                  </a:lnTo>
                  <a:lnTo>
                    <a:pt x="22493732" y="2336927"/>
                  </a:lnTo>
                  <a:cubicBezTo>
                    <a:pt x="22493732" y="2424303"/>
                    <a:pt x="22422484" y="2495042"/>
                    <a:pt x="22334601" y="2495042"/>
                  </a:cubicBezTo>
                  <a:lnTo>
                    <a:pt x="22334601" y="2485517"/>
                  </a:lnTo>
                  <a:lnTo>
                    <a:pt x="22334601" y="2495042"/>
                  </a:lnTo>
                  <a:lnTo>
                    <a:pt x="159131" y="2495042"/>
                  </a:lnTo>
                  <a:lnTo>
                    <a:pt x="159131" y="2485517"/>
                  </a:lnTo>
                  <a:lnTo>
                    <a:pt x="159131" y="2495042"/>
                  </a:lnTo>
                  <a:cubicBezTo>
                    <a:pt x="71247" y="2495042"/>
                    <a:pt x="0" y="2424303"/>
                    <a:pt x="0" y="2336927"/>
                  </a:cubicBezTo>
                  <a:lnTo>
                    <a:pt x="0" y="158115"/>
                  </a:lnTo>
                  <a:lnTo>
                    <a:pt x="9525" y="158115"/>
                  </a:lnTo>
                  <a:lnTo>
                    <a:pt x="0" y="158115"/>
                  </a:lnTo>
                  <a:moveTo>
                    <a:pt x="19050" y="158115"/>
                  </a:moveTo>
                  <a:lnTo>
                    <a:pt x="19050" y="2336927"/>
                  </a:lnTo>
                  <a:lnTo>
                    <a:pt x="9525" y="2336927"/>
                  </a:lnTo>
                  <a:lnTo>
                    <a:pt x="19050" y="2336927"/>
                  </a:lnTo>
                  <a:cubicBezTo>
                    <a:pt x="19050" y="2413635"/>
                    <a:pt x="81661" y="2475992"/>
                    <a:pt x="159131" y="2475992"/>
                  </a:cubicBezTo>
                  <a:lnTo>
                    <a:pt x="22334601" y="2475992"/>
                  </a:lnTo>
                  <a:cubicBezTo>
                    <a:pt x="22412071" y="2475992"/>
                    <a:pt x="22474682" y="2413635"/>
                    <a:pt x="22474682" y="2336927"/>
                  </a:cubicBezTo>
                  <a:lnTo>
                    <a:pt x="22474682" y="158115"/>
                  </a:lnTo>
                  <a:cubicBezTo>
                    <a:pt x="22474682" y="81407"/>
                    <a:pt x="22412071" y="19050"/>
                    <a:pt x="22334601" y="19050"/>
                  </a:cubicBezTo>
                  <a:lnTo>
                    <a:pt x="159131" y="19050"/>
                  </a:lnTo>
                  <a:lnTo>
                    <a:pt x="159131" y="9525"/>
                  </a:lnTo>
                  <a:lnTo>
                    <a:pt x="159131" y="19050"/>
                  </a:lnTo>
                  <a:cubicBezTo>
                    <a:pt x="81661" y="19050"/>
                    <a:pt x="19050" y="81407"/>
                    <a:pt x="19050" y="158115"/>
                  </a:cubicBez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99925" y="7285206"/>
            <a:ext cx="16284569" cy="1571320"/>
            <a:chOff x="0" y="0"/>
            <a:chExt cx="21712758" cy="209509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712760" cy="2095091"/>
            </a:xfrm>
            <a:custGeom>
              <a:avLst/>
              <a:gdLst/>
              <a:ahLst/>
              <a:cxnLst/>
              <a:rect r="r" b="b" t="t" l="l"/>
              <a:pathLst>
                <a:path h="2095091" w="21712760">
                  <a:moveTo>
                    <a:pt x="0" y="0"/>
                  </a:moveTo>
                  <a:lnTo>
                    <a:pt x="21712760" y="0"/>
                  </a:lnTo>
                  <a:lnTo>
                    <a:pt x="21712760" y="2095091"/>
                  </a:lnTo>
                  <a:lnTo>
                    <a:pt x="0" y="2095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23825"/>
              <a:ext cx="21712758" cy="2218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 2021, the average winner got nearly half of all votes cast. In 2026, they got barely a third. The seat tally looks decisive. The vote concentration tells a more complex story.</a:t>
              </a:r>
            </a:p>
            <a:p>
              <a:pPr algn="l">
                <a:lnSpc>
                  <a:spcPts val="3239"/>
                </a:lnSpc>
              </a:pP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This tension — </a:t>
              </a:r>
              <a:r>
                <a:rPr lang="en-US" sz="1687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landslide in seats, fragmentation in votes</a:t>
              </a:r>
              <a:r>
                <a:rPr lang="en-US" sz="168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— is what makes the 2026 result analytically unusual.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5713183" cy="571386"/>
            <a:chOff x="0" y="0"/>
            <a:chExt cx="20950911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0909" cy="761851"/>
            </a:xfrm>
            <a:custGeom>
              <a:avLst/>
              <a:gdLst/>
              <a:ahLst/>
              <a:cxnLst/>
              <a:rect r="r" b="b" t="t" l="l"/>
              <a:pathLst>
                <a:path h="761851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950911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 1 of Every 4 Constituencies, Most Voters Chose Someone Else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Q6 · Win percentage distribution shift · 2021 vs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9373" y="1735588"/>
            <a:ext cx="9442190" cy="5956725"/>
            <a:chOff x="0" y="0"/>
            <a:chExt cx="12589586" cy="7942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10425"/>
              <a:ext cx="12570460" cy="7921478"/>
            </a:xfrm>
            <a:custGeom>
              <a:avLst/>
              <a:gdLst/>
              <a:ahLst/>
              <a:cxnLst/>
              <a:rect r="r" b="b" t="t" l="l"/>
              <a:pathLst>
                <a:path h="7921478" w="12570460">
                  <a:moveTo>
                    <a:pt x="0" y="633702"/>
                  </a:moveTo>
                  <a:cubicBezTo>
                    <a:pt x="0" y="283699"/>
                    <a:pt x="259461" y="0"/>
                    <a:pt x="579628" y="0"/>
                  </a:cubicBezTo>
                  <a:lnTo>
                    <a:pt x="11990832" y="0"/>
                  </a:lnTo>
                  <a:cubicBezTo>
                    <a:pt x="12310999" y="0"/>
                    <a:pt x="12570460" y="283699"/>
                    <a:pt x="12570460" y="633702"/>
                  </a:cubicBezTo>
                  <a:lnTo>
                    <a:pt x="12570460" y="7287777"/>
                  </a:lnTo>
                  <a:cubicBezTo>
                    <a:pt x="12570460" y="7637779"/>
                    <a:pt x="12310999" y="7921478"/>
                    <a:pt x="11990832" y="7921478"/>
                  </a:cubicBezTo>
                  <a:lnTo>
                    <a:pt x="579628" y="7921478"/>
                  </a:lnTo>
                  <a:cubicBezTo>
                    <a:pt x="259461" y="7921478"/>
                    <a:pt x="0" y="7637779"/>
                    <a:pt x="0" y="7287777"/>
                  </a:cubicBezTo>
                  <a:close/>
                </a:path>
              </a:pathLst>
            </a:custGeom>
            <a:blipFill>
              <a:blip r:embed="rId3"/>
              <a:stretch>
                <a:fillRect l="-75" t="-984" r="-76" b="-1228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89510" cy="7942326"/>
            </a:xfrm>
            <a:custGeom>
              <a:avLst/>
              <a:gdLst/>
              <a:ahLst/>
              <a:cxnLst/>
              <a:rect r="r" b="b" t="t" l="l"/>
              <a:pathLst>
                <a:path h="7942326" w="12589510">
                  <a:moveTo>
                    <a:pt x="0" y="644127"/>
                  </a:moveTo>
                  <a:cubicBezTo>
                    <a:pt x="0" y="288425"/>
                    <a:pt x="263779" y="0"/>
                    <a:pt x="589153" y="0"/>
                  </a:cubicBezTo>
                  <a:lnTo>
                    <a:pt x="12000357" y="0"/>
                  </a:lnTo>
                  <a:lnTo>
                    <a:pt x="12000357" y="10425"/>
                  </a:lnTo>
                  <a:lnTo>
                    <a:pt x="12000357" y="0"/>
                  </a:lnTo>
                  <a:cubicBezTo>
                    <a:pt x="12325731" y="0"/>
                    <a:pt x="12589510" y="288425"/>
                    <a:pt x="12589510" y="644127"/>
                  </a:cubicBezTo>
                  <a:lnTo>
                    <a:pt x="12579985" y="644127"/>
                  </a:lnTo>
                  <a:lnTo>
                    <a:pt x="12589510" y="644127"/>
                  </a:lnTo>
                  <a:lnTo>
                    <a:pt x="12589510" y="7298202"/>
                  </a:lnTo>
                  <a:lnTo>
                    <a:pt x="12579985" y="7298202"/>
                  </a:lnTo>
                  <a:lnTo>
                    <a:pt x="12589510" y="7298202"/>
                  </a:lnTo>
                  <a:cubicBezTo>
                    <a:pt x="12589510" y="7653903"/>
                    <a:pt x="12325731" y="7942326"/>
                    <a:pt x="12000357" y="7942326"/>
                  </a:cubicBezTo>
                  <a:lnTo>
                    <a:pt x="12000357" y="7931903"/>
                  </a:lnTo>
                  <a:lnTo>
                    <a:pt x="12000357" y="7942326"/>
                  </a:lnTo>
                  <a:lnTo>
                    <a:pt x="589153" y="7942326"/>
                  </a:lnTo>
                  <a:lnTo>
                    <a:pt x="589153" y="7931903"/>
                  </a:lnTo>
                  <a:lnTo>
                    <a:pt x="589153" y="7942326"/>
                  </a:lnTo>
                  <a:cubicBezTo>
                    <a:pt x="263779" y="7942326"/>
                    <a:pt x="0" y="7653903"/>
                    <a:pt x="0" y="7298202"/>
                  </a:cubicBezTo>
                  <a:lnTo>
                    <a:pt x="0" y="644127"/>
                  </a:lnTo>
                  <a:lnTo>
                    <a:pt x="9525" y="644127"/>
                  </a:lnTo>
                  <a:lnTo>
                    <a:pt x="0" y="644127"/>
                  </a:lnTo>
                  <a:moveTo>
                    <a:pt x="19050" y="644127"/>
                  </a:moveTo>
                  <a:lnTo>
                    <a:pt x="19050" y="7298202"/>
                  </a:lnTo>
                  <a:lnTo>
                    <a:pt x="9525" y="7298202"/>
                  </a:lnTo>
                  <a:lnTo>
                    <a:pt x="19050" y="7298202"/>
                  </a:lnTo>
                  <a:cubicBezTo>
                    <a:pt x="19050" y="7642366"/>
                    <a:pt x="274320" y="7921478"/>
                    <a:pt x="589153" y="7921478"/>
                  </a:cubicBezTo>
                  <a:lnTo>
                    <a:pt x="12000357" y="7921478"/>
                  </a:lnTo>
                  <a:cubicBezTo>
                    <a:pt x="12315189" y="7921478"/>
                    <a:pt x="12570460" y="7642366"/>
                    <a:pt x="12570460" y="7298202"/>
                  </a:cubicBezTo>
                  <a:lnTo>
                    <a:pt x="12570460" y="644127"/>
                  </a:lnTo>
                  <a:cubicBezTo>
                    <a:pt x="12570460" y="299962"/>
                    <a:pt x="12315189" y="20850"/>
                    <a:pt x="12000357" y="20850"/>
                  </a:cubicBezTo>
                  <a:lnTo>
                    <a:pt x="589153" y="20850"/>
                  </a:lnTo>
                  <a:lnTo>
                    <a:pt x="589153" y="10425"/>
                  </a:lnTo>
                  <a:lnTo>
                    <a:pt x="589153" y="20850"/>
                  </a:lnTo>
                  <a:cubicBezTo>
                    <a:pt x="274320" y="20850"/>
                    <a:pt x="19050" y="299962"/>
                    <a:pt x="19050" y="644127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63539" y="1564176"/>
            <a:ext cx="7013791" cy="1157059"/>
            <a:chOff x="0" y="0"/>
            <a:chExt cx="9351721" cy="15427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9525"/>
              <a:ext cx="9332722" cy="1523746"/>
            </a:xfrm>
            <a:custGeom>
              <a:avLst/>
              <a:gdLst/>
              <a:ahLst/>
              <a:cxnLst/>
              <a:rect r="r" b="b" t="t" l="l"/>
              <a:pathLst>
                <a:path h="1523746" w="933272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9209532" y="0"/>
                  </a:lnTo>
                  <a:cubicBezTo>
                    <a:pt x="9277603" y="0"/>
                    <a:pt x="9332722" y="54610"/>
                    <a:pt x="9332722" y="121920"/>
                  </a:cubicBezTo>
                  <a:lnTo>
                    <a:pt x="9332722" y="1401826"/>
                  </a:lnTo>
                  <a:cubicBezTo>
                    <a:pt x="9332722" y="1469136"/>
                    <a:pt x="9277603" y="1523746"/>
                    <a:pt x="9209532" y="1523746"/>
                  </a:cubicBezTo>
                  <a:lnTo>
                    <a:pt x="123190" y="1523746"/>
                  </a:lnTo>
                  <a:cubicBezTo>
                    <a:pt x="55118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51772" cy="1542796"/>
            </a:xfrm>
            <a:custGeom>
              <a:avLst/>
              <a:gdLst/>
              <a:ahLst/>
              <a:cxnLst/>
              <a:rect r="r" b="b" t="t" l="l"/>
              <a:pathLst>
                <a:path h="1542796" w="9351772">
                  <a:moveTo>
                    <a:pt x="0" y="131445"/>
                  </a:moveTo>
                  <a:cubicBezTo>
                    <a:pt x="0" y="58801"/>
                    <a:pt x="59563" y="0"/>
                    <a:pt x="132715" y="0"/>
                  </a:cubicBezTo>
                  <a:lnTo>
                    <a:pt x="9219057" y="0"/>
                  </a:lnTo>
                  <a:lnTo>
                    <a:pt x="9219057" y="9525"/>
                  </a:lnTo>
                  <a:lnTo>
                    <a:pt x="9219057" y="0"/>
                  </a:lnTo>
                  <a:cubicBezTo>
                    <a:pt x="9292209" y="0"/>
                    <a:pt x="9351772" y="58801"/>
                    <a:pt x="9351772" y="131445"/>
                  </a:cubicBezTo>
                  <a:lnTo>
                    <a:pt x="9342247" y="131445"/>
                  </a:lnTo>
                  <a:lnTo>
                    <a:pt x="9351772" y="131445"/>
                  </a:lnTo>
                  <a:lnTo>
                    <a:pt x="9351772" y="1411351"/>
                  </a:lnTo>
                  <a:lnTo>
                    <a:pt x="9342247" y="1411351"/>
                  </a:lnTo>
                  <a:lnTo>
                    <a:pt x="9351772" y="1411351"/>
                  </a:lnTo>
                  <a:cubicBezTo>
                    <a:pt x="9351772" y="1483995"/>
                    <a:pt x="9292209" y="1542796"/>
                    <a:pt x="9219057" y="1542796"/>
                  </a:cubicBezTo>
                  <a:lnTo>
                    <a:pt x="9219057" y="1533271"/>
                  </a:lnTo>
                  <a:lnTo>
                    <a:pt x="9219057" y="1542796"/>
                  </a:lnTo>
                  <a:lnTo>
                    <a:pt x="132715" y="1542796"/>
                  </a:lnTo>
                  <a:lnTo>
                    <a:pt x="132715" y="1533271"/>
                  </a:lnTo>
                  <a:lnTo>
                    <a:pt x="132715" y="1542796"/>
                  </a:lnTo>
                  <a:cubicBezTo>
                    <a:pt x="59563" y="1542796"/>
                    <a:pt x="0" y="1483995"/>
                    <a:pt x="0" y="1411351"/>
                  </a:cubicBezTo>
                  <a:lnTo>
                    <a:pt x="0" y="131445"/>
                  </a:lnTo>
                  <a:lnTo>
                    <a:pt x="9525" y="131445"/>
                  </a:lnTo>
                  <a:lnTo>
                    <a:pt x="0" y="131445"/>
                  </a:lnTo>
                  <a:moveTo>
                    <a:pt x="19050" y="131445"/>
                  </a:moveTo>
                  <a:lnTo>
                    <a:pt x="19050" y="1411351"/>
                  </a:lnTo>
                  <a:lnTo>
                    <a:pt x="9525" y="1411351"/>
                  </a:lnTo>
                  <a:lnTo>
                    <a:pt x="19050" y="1411351"/>
                  </a:lnTo>
                  <a:cubicBezTo>
                    <a:pt x="19050" y="1473327"/>
                    <a:pt x="69850" y="1523746"/>
                    <a:pt x="132715" y="1523746"/>
                  </a:cubicBezTo>
                  <a:lnTo>
                    <a:pt x="9219057" y="1523746"/>
                  </a:lnTo>
                  <a:cubicBezTo>
                    <a:pt x="9281922" y="1523746"/>
                    <a:pt x="9332722" y="1473327"/>
                    <a:pt x="9332722" y="1411351"/>
                  </a:cubicBezTo>
                  <a:lnTo>
                    <a:pt x="9332722" y="131445"/>
                  </a:lnTo>
                  <a:cubicBezTo>
                    <a:pt x="9332722" y="69469"/>
                    <a:pt x="9281922" y="19050"/>
                    <a:pt x="9219057" y="19050"/>
                  </a:cubicBezTo>
                  <a:lnTo>
                    <a:pt x="132715" y="19050"/>
                  </a:lnTo>
                  <a:lnTo>
                    <a:pt x="132715" y="9525"/>
                  </a:lnTo>
                  <a:lnTo>
                    <a:pt x="132715" y="19050"/>
                  </a:lnTo>
                  <a:cubicBezTo>
                    <a:pt x="69850" y="19050"/>
                    <a:pt x="19050" y="69469"/>
                    <a:pt x="19050" y="1314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56376" y="1628461"/>
            <a:ext cx="2856938" cy="628526"/>
            <a:chOff x="0" y="0"/>
            <a:chExt cx="3809251" cy="8380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09256" cy="838036"/>
            </a:xfrm>
            <a:custGeom>
              <a:avLst/>
              <a:gdLst/>
              <a:ahLst/>
              <a:cxnLst/>
              <a:rect r="r" b="b" t="t" l="l"/>
              <a:pathLst>
                <a:path h="838036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838036"/>
                  </a:lnTo>
                  <a:lnTo>
                    <a:pt x="0" y="8380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09251" cy="8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64 seats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56376" y="2256987"/>
            <a:ext cx="6428118" cy="342833"/>
            <a:chOff x="0" y="0"/>
            <a:chExt cx="8570824" cy="457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70826" cy="457111"/>
            </a:xfrm>
            <a:custGeom>
              <a:avLst/>
              <a:gdLst/>
              <a:ahLst/>
              <a:cxnLst/>
              <a:rect r="r" b="b" t="t" l="l"/>
              <a:pathLst>
                <a:path h="457111" w="8570826">
                  <a:moveTo>
                    <a:pt x="0" y="0"/>
                  </a:moveTo>
                  <a:lnTo>
                    <a:pt x="8570826" y="0"/>
                  </a:lnTo>
                  <a:lnTo>
                    <a:pt x="8570826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570824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Won with under 35% of valid votes polled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63539" y="2849804"/>
            <a:ext cx="7013791" cy="1157059"/>
            <a:chOff x="0" y="0"/>
            <a:chExt cx="9351721" cy="15427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525" y="9525"/>
              <a:ext cx="9332722" cy="1523746"/>
            </a:xfrm>
            <a:custGeom>
              <a:avLst/>
              <a:gdLst/>
              <a:ahLst/>
              <a:cxnLst/>
              <a:rect r="r" b="b" t="t" l="l"/>
              <a:pathLst>
                <a:path h="1523746" w="933272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9209532" y="0"/>
                  </a:lnTo>
                  <a:cubicBezTo>
                    <a:pt x="9277603" y="0"/>
                    <a:pt x="9332722" y="54610"/>
                    <a:pt x="9332722" y="121920"/>
                  </a:cubicBezTo>
                  <a:lnTo>
                    <a:pt x="9332722" y="1401826"/>
                  </a:lnTo>
                  <a:cubicBezTo>
                    <a:pt x="9332722" y="1469136"/>
                    <a:pt x="9277603" y="1523746"/>
                    <a:pt x="9209532" y="1523746"/>
                  </a:cubicBezTo>
                  <a:lnTo>
                    <a:pt x="123190" y="1523746"/>
                  </a:lnTo>
                  <a:cubicBezTo>
                    <a:pt x="55118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51772" cy="1542796"/>
            </a:xfrm>
            <a:custGeom>
              <a:avLst/>
              <a:gdLst/>
              <a:ahLst/>
              <a:cxnLst/>
              <a:rect r="r" b="b" t="t" l="l"/>
              <a:pathLst>
                <a:path h="1542796" w="9351772">
                  <a:moveTo>
                    <a:pt x="0" y="131445"/>
                  </a:moveTo>
                  <a:cubicBezTo>
                    <a:pt x="0" y="58801"/>
                    <a:pt x="59563" y="0"/>
                    <a:pt x="132715" y="0"/>
                  </a:cubicBezTo>
                  <a:lnTo>
                    <a:pt x="9219057" y="0"/>
                  </a:lnTo>
                  <a:lnTo>
                    <a:pt x="9219057" y="9525"/>
                  </a:lnTo>
                  <a:lnTo>
                    <a:pt x="9219057" y="0"/>
                  </a:lnTo>
                  <a:cubicBezTo>
                    <a:pt x="9292209" y="0"/>
                    <a:pt x="9351772" y="58801"/>
                    <a:pt x="9351772" y="131445"/>
                  </a:cubicBezTo>
                  <a:lnTo>
                    <a:pt x="9342247" y="131445"/>
                  </a:lnTo>
                  <a:lnTo>
                    <a:pt x="9351772" y="131445"/>
                  </a:lnTo>
                  <a:lnTo>
                    <a:pt x="9351772" y="1411351"/>
                  </a:lnTo>
                  <a:lnTo>
                    <a:pt x="9342247" y="1411351"/>
                  </a:lnTo>
                  <a:lnTo>
                    <a:pt x="9351772" y="1411351"/>
                  </a:lnTo>
                  <a:cubicBezTo>
                    <a:pt x="9351772" y="1483995"/>
                    <a:pt x="9292209" y="1542796"/>
                    <a:pt x="9219057" y="1542796"/>
                  </a:cubicBezTo>
                  <a:lnTo>
                    <a:pt x="9219057" y="1533271"/>
                  </a:lnTo>
                  <a:lnTo>
                    <a:pt x="9219057" y="1542796"/>
                  </a:lnTo>
                  <a:lnTo>
                    <a:pt x="132715" y="1542796"/>
                  </a:lnTo>
                  <a:lnTo>
                    <a:pt x="132715" y="1533271"/>
                  </a:lnTo>
                  <a:lnTo>
                    <a:pt x="132715" y="1542796"/>
                  </a:lnTo>
                  <a:cubicBezTo>
                    <a:pt x="59563" y="1542796"/>
                    <a:pt x="0" y="1483995"/>
                    <a:pt x="0" y="1411351"/>
                  </a:cubicBezTo>
                  <a:lnTo>
                    <a:pt x="0" y="131445"/>
                  </a:lnTo>
                  <a:lnTo>
                    <a:pt x="9525" y="131445"/>
                  </a:lnTo>
                  <a:lnTo>
                    <a:pt x="0" y="131445"/>
                  </a:lnTo>
                  <a:moveTo>
                    <a:pt x="19050" y="131445"/>
                  </a:moveTo>
                  <a:lnTo>
                    <a:pt x="19050" y="1411351"/>
                  </a:lnTo>
                  <a:lnTo>
                    <a:pt x="9525" y="1411351"/>
                  </a:lnTo>
                  <a:lnTo>
                    <a:pt x="19050" y="1411351"/>
                  </a:lnTo>
                  <a:cubicBezTo>
                    <a:pt x="19050" y="1473327"/>
                    <a:pt x="69850" y="1523746"/>
                    <a:pt x="132715" y="1523746"/>
                  </a:cubicBezTo>
                  <a:lnTo>
                    <a:pt x="9219057" y="1523746"/>
                  </a:lnTo>
                  <a:cubicBezTo>
                    <a:pt x="9281922" y="1523746"/>
                    <a:pt x="9332722" y="1473327"/>
                    <a:pt x="9332722" y="1411351"/>
                  </a:cubicBezTo>
                  <a:lnTo>
                    <a:pt x="9332722" y="131445"/>
                  </a:lnTo>
                  <a:cubicBezTo>
                    <a:pt x="9332722" y="69469"/>
                    <a:pt x="9281922" y="19050"/>
                    <a:pt x="9219057" y="19050"/>
                  </a:cubicBezTo>
                  <a:lnTo>
                    <a:pt x="132715" y="19050"/>
                  </a:lnTo>
                  <a:lnTo>
                    <a:pt x="132715" y="9525"/>
                  </a:lnTo>
                  <a:lnTo>
                    <a:pt x="132715" y="19050"/>
                  </a:lnTo>
                  <a:cubicBezTo>
                    <a:pt x="69850" y="19050"/>
                    <a:pt x="19050" y="69469"/>
                    <a:pt x="19050" y="1314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56376" y="2914078"/>
            <a:ext cx="2856938" cy="628526"/>
            <a:chOff x="0" y="0"/>
            <a:chExt cx="3809251" cy="8380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9256" cy="838036"/>
            </a:xfrm>
            <a:custGeom>
              <a:avLst/>
              <a:gdLst/>
              <a:ahLst/>
              <a:cxnLst/>
              <a:rect r="r" b="b" t="t" l="l"/>
              <a:pathLst>
                <a:path h="838036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838036"/>
                  </a:lnTo>
                  <a:lnTo>
                    <a:pt x="0" y="8380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809251" cy="8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13 seats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56376" y="3542605"/>
            <a:ext cx="6428118" cy="342833"/>
            <a:chOff x="0" y="0"/>
            <a:chExt cx="8570824" cy="457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70826" cy="457111"/>
            </a:xfrm>
            <a:custGeom>
              <a:avLst/>
              <a:gdLst/>
              <a:ahLst/>
              <a:cxnLst/>
              <a:rect r="r" b="b" t="t" l="l"/>
              <a:pathLst>
                <a:path h="457111" w="8570826">
                  <a:moveTo>
                    <a:pt x="0" y="0"/>
                  </a:moveTo>
                  <a:lnTo>
                    <a:pt x="8570826" y="0"/>
                  </a:lnTo>
                  <a:lnTo>
                    <a:pt x="8570826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570824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Won with over 50% — Was 70 in 2021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56405" y="4128278"/>
            <a:ext cx="7028078" cy="1171346"/>
            <a:chOff x="0" y="0"/>
            <a:chExt cx="9370771" cy="15617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9332722" cy="1523746"/>
            </a:xfrm>
            <a:custGeom>
              <a:avLst/>
              <a:gdLst/>
              <a:ahLst/>
              <a:cxnLst/>
              <a:rect r="r" b="b" t="t" l="l"/>
              <a:pathLst>
                <a:path h="1523746" w="9332722">
                  <a:moveTo>
                    <a:pt x="0" y="121920"/>
                  </a:moveTo>
                  <a:cubicBezTo>
                    <a:pt x="0" y="54610"/>
                    <a:pt x="55753" y="0"/>
                    <a:pt x="124460" y="0"/>
                  </a:cubicBezTo>
                  <a:lnTo>
                    <a:pt x="9208262" y="0"/>
                  </a:lnTo>
                  <a:cubicBezTo>
                    <a:pt x="9276969" y="0"/>
                    <a:pt x="9332722" y="54610"/>
                    <a:pt x="9332722" y="121920"/>
                  </a:cubicBezTo>
                  <a:lnTo>
                    <a:pt x="9332722" y="1401826"/>
                  </a:lnTo>
                  <a:cubicBezTo>
                    <a:pt x="9332722" y="1469136"/>
                    <a:pt x="9276969" y="1523746"/>
                    <a:pt x="9208262" y="1523746"/>
                  </a:cubicBezTo>
                  <a:lnTo>
                    <a:pt x="124460" y="1523746"/>
                  </a:lnTo>
                  <a:cubicBezTo>
                    <a:pt x="55753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A855F7">
                <a:alpha val="39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70822" cy="1561846"/>
            </a:xfrm>
            <a:custGeom>
              <a:avLst/>
              <a:gdLst/>
              <a:ahLst/>
              <a:cxnLst/>
              <a:rect r="r" b="b" t="t" l="l"/>
              <a:pathLst>
                <a:path h="1561846" w="9370822">
                  <a:moveTo>
                    <a:pt x="0" y="140970"/>
                  </a:moveTo>
                  <a:cubicBezTo>
                    <a:pt x="0" y="62738"/>
                    <a:pt x="64643" y="0"/>
                    <a:pt x="143510" y="0"/>
                  </a:cubicBezTo>
                  <a:lnTo>
                    <a:pt x="9227312" y="0"/>
                  </a:lnTo>
                  <a:lnTo>
                    <a:pt x="9227312" y="19050"/>
                  </a:lnTo>
                  <a:lnTo>
                    <a:pt x="9227312" y="0"/>
                  </a:lnTo>
                  <a:cubicBezTo>
                    <a:pt x="9306179" y="0"/>
                    <a:pt x="9370822" y="62738"/>
                    <a:pt x="9370822" y="140970"/>
                  </a:cubicBezTo>
                  <a:lnTo>
                    <a:pt x="9351772" y="140970"/>
                  </a:lnTo>
                  <a:lnTo>
                    <a:pt x="9370822" y="140970"/>
                  </a:lnTo>
                  <a:lnTo>
                    <a:pt x="9370822" y="1420876"/>
                  </a:lnTo>
                  <a:lnTo>
                    <a:pt x="9351772" y="1420876"/>
                  </a:lnTo>
                  <a:lnTo>
                    <a:pt x="9370822" y="1420876"/>
                  </a:lnTo>
                  <a:cubicBezTo>
                    <a:pt x="9370822" y="1499108"/>
                    <a:pt x="9306179" y="1561846"/>
                    <a:pt x="9227312" y="1561846"/>
                  </a:cubicBezTo>
                  <a:lnTo>
                    <a:pt x="9227312" y="1542796"/>
                  </a:lnTo>
                  <a:lnTo>
                    <a:pt x="9227312" y="1561846"/>
                  </a:lnTo>
                  <a:lnTo>
                    <a:pt x="143510" y="1561846"/>
                  </a:lnTo>
                  <a:lnTo>
                    <a:pt x="143510" y="1542796"/>
                  </a:lnTo>
                  <a:lnTo>
                    <a:pt x="143510" y="1561846"/>
                  </a:lnTo>
                  <a:cubicBezTo>
                    <a:pt x="64643" y="1561846"/>
                    <a:pt x="0" y="1499108"/>
                    <a:pt x="0" y="1420876"/>
                  </a:cubicBezTo>
                  <a:lnTo>
                    <a:pt x="0" y="140970"/>
                  </a:lnTo>
                  <a:lnTo>
                    <a:pt x="19050" y="140970"/>
                  </a:lnTo>
                  <a:lnTo>
                    <a:pt x="0" y="140970"/>
                  </a:lnTo>
                  <a:moveTo>
                    <a:pt x="38100" y="140970"/>
                  </a:moveTo>
                  <a:lnTo>
                    <a:pt x="38100" y="1420876"/>
                  </a:lnTo>
                  <a:lnTo>
                    <a:pt x="19050" y="1420876"/>
                  </a:lnTo>
                  <a:lnTo>
                    <a:pt x="38100" y="1420876"/>
                  </a:lnTo>
                  <a:cubicBezTo>
                    <a:pt x="38100" y="1477264"/>
                    <a:pt x="84963" y="1523746"/>
                    <a:pt x="143510" y="1523746"/>
                  </a:cubicBezTo>
                  <a:lnTo>
                    <a:pt x="9227312" y="1523746"/>
                  </a:lnTo>
                  <a:cubicBezTo>
                    <a:pt x="9285859" y="1523746"/>
                    <a:pt x="9332722" y="1477391"/>
                    <a:pt x="9332722" y="1420876"/>
                  </a:cubicBezTo>
                  <a:lnTo>
                    <a:pt x="9332722" y="140970"/>
                  </a:lnTo>
                  <a:cubicBezTo>
                    <a:pt x="9332722" y="84582"/>
                    <a:pt x="9285859" y="38100"/>
                    <a:pt x="9227312" y="38100"/>
                  </a:cubicBezTo>
                  <a:lnTo>
                    <a:pt x="143510" y="38100"/>
                  </a:lnTo>
                  <a:lnTo>
                    <a:pt x="143510" y="19050"/>
                  </a:lnTo>
                  <a:lnTo>
                    <a:pt x="143510" y="38100"/>
                  </a:lnTo>
                  <a:cubicBezTo>
                    <a:pt x="84963" y="38100"/>
                    <a:pt x="38100" y="84455"/>
                    <a:pt x="38100" y="140970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56376" y="4199706"/>
            <a:ext cx="2856938" cy="628526"/>
            <a:chOff x="0" y="0"/>
            <a:chExt cx="3809251" cy="8380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09256" cy="838036"/>
            </a:xfrm>
            <a:custGeom>
              <a:avLst/>
              <a:gdLst/>
              <a:ahLst/>
              <a:cxnLst/>
              <a:rect r="r" b="b" t="t" l="l"/>
              <a:pathLst>
                <a:path h="838036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838036"/>
                  </a:lnTo>
                  <a:lnTo>
                    <a:pt x="0" y="8380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809251" cy="847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A855F7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 vote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56376" y="4828232"/>
            <a:ext cx="6428118" cy="342833"/>
            <a:chOff x="0" y="0"/>
            <a:chExt cx="8570824" cy="457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70826" cy="457111"/>
            </a:xfrm>
            <a:custGeom>
              <a:avLst/>
              <a:gdLst/>
              <a:ahLst/>
              <a:cxnLst/>
              <a:rect r="r" b="b" t="t" l="l"/>
              <a:pathLst>
                <a:path h="457111" w="8570826">
                  <a:moveTo>
                    <a:pt x="0" y="0"/>
                  </a:moveTo>
                  <a:lnTo>
                    <a:pt x="8570826" y="0"/>
                  </a:lnTo>
                  <a:lnTo>
                    <a:pt x="8570826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570824" cy="4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Tiruppattur — tightest margin in the state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63539" y="5421049"/>
            <a:ext cx="7013791" cy="1157059"/>
            <a:chOff x="0" y="0"/>
            <a:chExt cx="9351721" cy="15427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9525" y="9525"/>
              <a:ext cx="9332722" cy="1523746"/>
            </a:xfrm>
            <a:custGeom>
              <a:avLst/>
              <a:gdLst/>
              <a:ahLst/>
              <a:cxnLst/>
              <a:rect r="r" b="b" t="t" l="l"/>
              <a:pathLst>
                <a:path h="1523746" w="933272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9209532" y="0"/>
                  </a:lnTo>
                  <a:cubicBezTo>
                    <a:pt x="9277603" y="0"/>
                    <a:pt x="9332722" y="54610"/>
                    <a:pt x="9332722" y="121920"/>
                  </a:cubicBezTo>
                  <a:lnTo>
                    <a:pt x="9332722" y="1401826"/>
                  </a:lnTo>
                  <a:cubicBezTo>
                    <a:pt x="9332722" y="1469136"/>
                    <a:pt x="9277603" y="1523746"/>
                    <a:pt x="9209532" y="1523746"/>
                  </a:cubicBezTo>
                  <a:lnTo>
                    <a:pt x="123190" y="1523746"/>
                  </a:lnTo>
                  <a:cubicBezTo>
                    <a:pt x="55118" y="1523746"/>
                    <a:pt x="0" y="1469136"/>
                    <a:pt x="0" y="1401826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51772" cy="1542796"/>
            </a:xfrm>
            <a:custGeom>
              <a:avLst/>
              <a:gdLst/>
              <a:ahLst/>
              <a:cxnLst/>
              <a:rect r="r" b="b" t="t" l="l"/>
              <a:pathLst>
                <a:path h="1542796" w="9351772">
                  <a:moveTo>
                    <a:pt x="0" y="131445"/>
                  </a:moveTo>
                  <a:cubicBezTo>
                    <a:pt x="0" y="58801"/>
                    <a:pt x="59563" y="0"/>
                    <a:pt x="132715" y="0"/>
                  </a:cubicBezTo>
                  <a:lnTo>
                    <a:pt x="9219057" y="0"/>
                  </a:lnTo>
                  <a:lnTo>
                    <a:pt x="9219057" y="9525"/>
                  </a:lnTo>
                  <a:lnTo>
                    <a:pt x="9219057" y="0"/>
                  </a:lnTo>
                  <a:cubicBezTo>
                    <a:pt x="9292209" y="0"/>
                    <a:pt x="9351772" y="58801"/>
                    <a:pt x="9351772" y="131445"/>
                  </a:cubicBezTo>
                  <a:lnTo>
                    <a:pt x="9342247" y="131445"/>
                  </a:lnTo>
                  <a:lnTo>
                    <a:pt x="9351772" y="131445"/>
                  </a:lnTo>
                  <a:lnTo>
                    <a:pt x="9351772" y="1411351"/>
                  </a:lnTo>
                  <a:lnTo>
                    <a:pt x="9342247" y="1411351"/>
                  </a:lnTo>
                  <a:lnTo>
                    <a:pt x="9351772" y="1411351"/>
                  </a:lnTo>
                  <a:cubicBezTo>
                    <a:pt x="9351772" y="1483995"/>
                    <a:pt x="9292209" y="1542796"/>
                    <a:pt x="9219057" y="1542796"/>
                  </a:cubicBezTo>
                  <a:lnTo>
                    <a:pt x="9219057" y="1533271"/>
                  </a:lnTo>
                  <a:lnTo>
                    <a:pt x="9219057" y="1542796"/>
                  </a:lnTo>
                  <a:lnTo>
                    <a:pt x="132715" y="1542796"/>
                  </a:lnTo>
                  <a:lnTo>
                    <a:pt x="132715" y="1533271"/>
                  </a:lnTo>
                  <a:lnTo>
                    <a:pt x="132715" y="1542796"/>
                  </a:lnTo>
                  <a:cubicBezTo>
                    <a:pt x="59563" y="1542796"/>
                    <a:pt x="0" y="1483995"/>
                    <a:pt x="0" y="1411351"/>
                  </a:cubicBezTo>
                  <a:lnTo>
                    <a:pt x="0" y="131445"/>
                  </a:lnTo>
                  <a:lnTo>
                    <a:pt x="9525" y="131445"/>
                  </a:lnTo>
                  <a:lnTo>
                    <a:pt x="0" y="131445"/>
                  </a:lnTo>
                  <a:moveTo>
                    <a:pt x="19050" y="131445"/>
                  </a:moveTo>
                  <a:lnTo>
                    <a:pt x="19050" y="1411351"/>
                  </a:lnTo>
                  <a:lnTo>
                    <a:pt x="9525" y="1411351"/>
                  </a:lnTo>
                  <a:lnTo>
                    <a:pt x="19050" y="1411351"/>
                  </a:lnTo>
                  <a:cubicBezTo>
                    <a:pt x="19050" y="1473327"/>
                    <a:pt x="69850" y="1523746"/>
                    <a:pt x="132715" y="1523746"/>
                  </a:cubicBezTo>
                  <a:lnTo>
                    <a:pt x="9219057" y="1523746"/>
                  </a:lnTo>
                  <a:cubicBezTo>
                    <a:pt x="9281922" y="1523746"/>
                    <a:pt x="9332722" y="1473327"/>
                    <a:pt x="9332722" y="1411351"/>
                  </a:cubicBezTo>
                  <a:lnTo>
                    <a:pt x="9332722" y="131445"/>
                  </a:lnTo>
                  <a:cubicBezTo>
                    <a:pt x="9332722" y="69469"/>
                    <a:pt x="9281922" y="19050"/>
                    <a:pt x="9219057" y="19050"/>
                  </a:cubicBezTo>
                  <a:lnTo>
                    <a:pt x="132715" y="19050"/>
                  </a:lnTo>
                  <a:lnTo>
                    <a:pt x="132715" y="9525"/>
                  </a:lnTo>
                  <a:lnTo>
                    <a:pt x="132715" y="19050"/>
                  </a:lnTo>
                  <a:cubicBezTo>
                    <a:pt x="69850" y="19050"/>
                    <a:pt x="19050" y="69469"/>
                    <a:pt x="19050" y="131445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56376" y="5513899"/>
            <a:ext cx="6428118" cy="971360"/>
            <a:chOff x="0" y="0"/>
            <a:chExt cx="8570824" cy="12951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70826" cy="1295147"/>
            </a:xfrm>
            <a:custGeom>
              <a:avLst/>
              <a:gdLst/>
              <a:ahLst/>
              <a:cxnLst/>
              <a:rect r="r" b="b" t="t" l="l"/>
              <a:pathLst>
                <a:path h="1295147" w="8570826">
                  <a:moveTo>
                    <a:pt x="0" y="0"/>
                  </a:moveTo>
                  <a:lnTo>
                    <a:pt x="8570826" y="0"/>
                  </a:lnTo>
                  <a:lnTo>
                    <a:pt x="8570826" y="1295147"/>
                  </a:lnTo>
                  <a:lnTo>
                    <a:pt x="0" y="12951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8570824" cy="1390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A855F7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South TN: 36.95%</a:t>
              </a: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— Most fragmented region</a:t>
              </a:r>
            </a:p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Chennai Metro: 46.63%</a:t>
              </a:r>
              <a:r>
                <a:rPr lang="en-US" sz="146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— Most decisive region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563539" y="6849523"/>
            <a:ext cx="3692860" cy="2968330"/>
            <a:chOff x="0" y="0"/>
            <a:chExt cx="3313636" cy="26635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7174" y="10168"/>
              <a:ext cx="3299269" cy="2643145"/>
            </a:xfrm>
            <a:custGeom>
              <a:avLst/>
              <a:gdLst/>
              <a:ahLst/>
              <a:cxnLst/>
              <a:rect r="r" b="b" t="t" l="l"/>
              <a:pathLst>
                <a:path h="2643145" w="3299269">
                  <a:moveTo>
                    <a:pt x="0" y="211495"/>
                  </a:moveTo>
                  <a:cubicBezTo>
                    <a:pt x="0" y="94630"/>
                    <a:pt x="67051" y="0"/>
                    <a:pt x="149693" y="0"/>
                  </a:cubicBezTo>
                  <a:lnTo>
                    <a:pt x="3149576" y="0"/>
                  </a:lnTo>
                  <a:cubicBezTo>
                    <a:pt x="3232218" y="0"/>
                    <a:pt x="3299269" y="94630"/>
                    <a:pt x="3299269" y="211495"/>
                  </a:cubicBezTo>
                  <a:lnTo>
                    <a:pt x="3299269" y="2431650"/>
                  </a:lnTo>
                  <a:cubicBezTo>
                    <a:pt x="3299269" y="2548379"/>
                    <a:pt x="3232218" y="2643145"/>
                    <a:pt x="3149576" y="2643145"/>
                  </a:cubicBezTo>
                  <a:lnTo>
                    <a:pt x="149693" y="2643145"/>
                  </a:lnTo>
                  <a:cubicBezTo>
                    <a:pt x="67051" y="2643145"/>
                    <a:pt x="0" y="2548514"/>
                    <a:pt x="0" y="2431650"/>
                  </a:cubicBezTo>
                  <a:close/>
                </a:path>
              </a:pathLst>
            </a:custGeom>
            <a:blipFill>
              <a:blip r:embed="rId4"/>
              <a:stretch>
                <a:fillRect l="-217" t="-518" r="-219" b="-293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13617" cy="2663481"/>
            </a:xfrm>
            <a:custGeom>
              <a:avLst/>
              <a:gdLst/>
              <a:ahLst/>
              <a:cxnLst/>
              <a:rect r="r" b="b" t="t" l="l"/>
              <a:pathLst>
                <a:path h="2663481" w="3313617">
                  <a:moveTo>
                    <a:pt x="0" y="221663"/>
                  </a:moveTo>
                  <a:cubicBezTo>
                    <a:pt x="0" y="99240"/>
                    <a:pt x="70207" y="0"/>
                    <a:pt x="156867" y="0"/>
                  </a:cubicBezTo>
                  <a:lnTo>
                    <a:pt x="3156750" y="0"/>
                  </a:lnTo>
                  <a:lnTo>
                    <a:pt x="3156750" y="10168"/>
                  </a:lnTo>
                  <a:lnTo>
                    <a:pt x="3156750" y="0"/>
                  </a:lnTo>
                  <a:cubicBezTo>
                    <a:pt x="3243313" y="0"/>
                    <a:pt x="3313617" y="99240"/>
                    <a:pt x="3313617" y="221663"/>
                  </a:cubicBezTo>
                  <a:lnTo>
                    <a:pt x="3306443" y="221663"/>
                  </a:lnTo>
                  <a:lnTo>
                    <a:pt x="3313617" y="221663"/>
                  </a:lnTo>
                  <a:lnTo>
                    <a:pt x="3313617" y="2441818"/>
                  </a:lnTo>
                  <a:lnTo>
                    <a:pt x="3306443" y="2441818"/>
                  </a:lnTo>
                  <a:lnTo>
                    <a:pt x="3313617" y="2441818"/>
                  </a:lnTo>
                  <a:cubicBezTo>
                    <a:pt x="3313617" y="2564241"/>
                    <a:pt x="3243409" y="2663481"/>
                    <a:pt x="3156750" y="2663481"/>
                  </a:cubicBezTo>
                  <a:lnTo>
                    <a:pt x="3156750" y="2653313"/>
                  </a:lnTo>
                  <a:lnTo>
                    <a:pt x="3156750" y="2663481"/>
                  </a:lnTo>
                  <a:lnTo>
                    <a:pt x="156867" y="2663481"/>
                  </a:lnTo>
                  <a:lnTo>
                    <a:pt x="156867" y="2653313"/>
                  </a:lnTo>
                  <a:lnTo>
                    <a:pt x="156867" y="2663481"/>
                  </a:lnTo>
                  <a:cubicBezTo>
                    <a:pt x="70303" y="2663481"/>
                    <a:pt x="0" y="2564241"/>
                    <a:pt x="0" y="2441818"/>
                  </a:cubicBezTo>
                  <a:lnTo>
                    <a:pt x="0" y="221663"/>
                  </a:lnTo>
                  <a:lnTo>
                    <a:pt x="7174" y="221663"/>
                  </a:lnTo>
                  <a:lnTo>
                    <a:pt x="0" y="221663"/>
                  </a:lnTo>
                  <a:moveTo>
                    <a:pt x="14348" y="221663"/>
                  </a:moveTo>
                  <a:lnTo>
                    <a:pt x="14348" y="2441818"/>
                  </a:lnTo>
                  <a:lnTo>
                    <a:pt x="7174" y="2441818"/>
                  </a:lnTo>
                  <a:lnTo>
                    <a:pt x="14348" y="2441818"/>
                  </a:lnTo>
                  <a:cubicBezTo>
                    <a:pt x="14348" y="2552988"/>
                    <a:pt x="78146" y="2643145"/>
                    <a:pt x="156867" y="2643145"/>
                  </a:cubicBezTo>
                  <a:lnTo>
                    <a:pt x="3156750" y="2643145"/>
                  </a:lnTo>
                  <a:cubicBezTo>
                    <a:pt x="3235471" y="2643145"/>
                    <a:pt x="3299269" y="2552988"/>
                    <a:pt x="3299269" y="2441818"/>
                  </a:cubicBezTo>
                  <a:lnTo>
                    <a:pt x="3299269" y="221663"/>
                  </a:lnTo>
                  <a:cubicBezTo>
                    <a:pt x="3299269" y="110493"/>
                    <a:pt x="3235471" y="20336"/>
                    <a:pt x="3156750" y="20336"/>
                  </a:cubicBezTo>
                  <a:lnTo>
                    <a:pt x="156867" y="20336"/>
                  </a:lnTo>
                  <a:lnTo>
                    <a:pt x="156867" y="10168"/>
                  </a:lnTo>
                  <a:lnTo>
                    <a:pt x="156867" y="20336"/>
                  </a:lnTo>
                  <a:cubicBezTo>
                    <a:pt x="78146" y="20336"/>
                    <a:pt x="14348" y="110493"/>
                    <a:pt x="14348" y="221663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386262" y="7287113"/>
            <a:ext cx="3198221" cy="75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</a:pPr>
            <a:r>
              <a:rPr lang="en-US" sz="1237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Each dot = one constituency</a:t>
            </a:r>
          </a:p>
          <a:p>
            <a:pPr algn="l">
              <a:lnSpc>
                <a:spcPts val="2078"/>
              </a:lnSpc>
            </a:pPr>
            <a:r>
              <a:rPr lang="en-US" sz="1237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Dots below diagonal = more fragmented in 2026 than 2021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2856235" cy="571386"/>
            <a:chOff x="0" y="0"/>
            <a:chExt cx="17141647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761851"/>
            </a:xfrm>
            <a:custGeom>
              <a:avLst/>
              <a:gdLst/>
              <a:ahLst/>
              <a:cxnLst/>
              <a:rect r="r" b="b" t="t" l="l"/>
              <a:pathLst>
                <a:path h="761851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141647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How AtliQ Should Structure the Show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 35-minute data segment built entirely from ECI numbers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7098" y="1564176"/>
            <a:ext cx="5299624" cy="3579324"/>
            <a:chOff x="0" y="0"/>
            <a:chExt cx="7066166" cy="4772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6999"/>
              <a:ext cx="7047102" cy="4758433"/>
            </a:xfrm>
            <a:custGeom>
              <a:avLst/>
              <a:gdLst/>
              <a:ahLst/>
              <a:cxnLst/>
              <a:rect r="r" b="b" t="t" l="l"/>
              <a:pathLst>
                <a:path h="4758433" w="7047102">
                  <a:moveTo>
                    <a:pt x="0" y="285469"/>
                  </a:moveTo>
                  <a:cubicBezTo>
                    <a:pt x="0" y="127850"/>
                    <a:pt x="173990" y="0"/>
                    <a:pt x="388620" y="0"/>
                  </a:cubicBezTo>
                  <a:lnTo>
                    <a:pt x="6658483" y="0"/>
                  </a:lnTo>
                  <a:cubicBezTo>
                    <a:pt x="6873113" y="0"/>
                    <a:pt x="7047102" y="127850"/>
                    <a:pt x="7047102" y="285469"/>
                  </a:cubicBezTo>
                  <a:lnTo>
                    <a:pt x="7047102" y="4472965"/>
                  </a:lnTo>
                  <a:cubicBezTo>
                    <a:pt x="7047102" y="4630677"/>
                    <a:pt x="6873113" y="4758433"/>
                    <a:pt x="6658483" y="4758433"/>
                  </a:cubicBezTo>
                  <a:lnTo>
                    <a:pt x="388620" y="4758433"/>
                  </a:lnTo>
                  <a:cubicBezTo>
                    <a:pt x="173990" y="4758433"/>
                    <a:pt x="0" y="4630584"/>
                    <a:pt x="0" y="4472965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6152" cy="4772431"/>
            </a:xfrm>
            <a:custGeom>
              <a:avLst/>
              <a:gdLst/>
              <a:ahLst/>
              <a:cxnLst/>
              <a:rect r="r" b="b" t="t" l="l"/>
              <a:pathLst>
                <a:path h="4772431" w="7066152">
                  <a:moveTo>
                    <a:pt x="0" y="292468"/>
                  </a:moveTo>
                  <a:cubicBezTo>
                    <a:pt x="0" y="130929"/>
                    <a:pt x="178308" y="0"/>
                    <a:pt x="398145" y="0"/>
                  </a:cubicBezTo>
                  <a:lnTo>
                    <a:pt x="6668008" y="0"/>
                  </a:lnTo>
                  <a:lnTo>
                    <a:pt x="6668008" y="6999"/>
                  </a:lnTo>
                  <a:lnTo>
                    <a:pt x="6668008" y="0"/>
                  </a:lnTo>
                  <a:cubicBezTo>
                    <a:pt x="6887845" y="0"/>
                    <a:pt x="7066152" y="130929"/>
                    <a:pt x="7066152" y="292468"/>
                  </a:cubicBezTo>
                  <a:lnTo>
                    <a:pt x="7056627" y="292468"/>
                  </a:lnTo>
                  <a:lnTo>
                    <a:pt x="7066152" y="292468"/>
                  </a:lnTo>
                  <a:lnTo>
                    <a:pt x="7066152" y="4479964"/>
                  </a:lnTo>
                  <a:lnTo>
                    <a:pt x="7056627" y="4479964"/>
                  </a:lnTo>
                  <a:lnTo>
                    <a:pt x="7066152" y="4479964"/>
                  </a:lnTo>
                  <a:cubicBezTo>
                    <a:pt x="7066152" y="4641502"/>
                    <a:pt x="6887845" y="4772431"/>
                    <a:pt x="6668008" y="4772431"/>
                  </a:cubicBezTo>
                  <a:lnTo>
                    <a:pt x="6668008" y="4765432"/>
                  </a:lnTo>
                  <a:lnTo>
                    <a:pt x="6668008" y="4772431"/>
                  </a:lnTo>
                  <a:lnTo>
                    <a:pt x="398145" y="4772431"/>
                  </a:lnTo>
                  <a:lnTo>
                    <a:pt x="398145" y="4765432"/>
                  </a:lnTo>
                  <a:lnTo>
                    <a:pt x="398145" y="4772431"/>
                  </a:lnTo>
                  <a:cubicBezTo>
                    <a:pt x="178308" y="4772431"/>
                    <a:pt x="0" y="4641502"/>
                    <a:pt x="0" y="4479964"/>
                  </a:cubicBezTo>
                  <a:lnTo>
                    <a:pt x="0" y="292468"/>
                  </a:lnTo>
                  <a:lnTo>
                    <a:pt x="9525" y="292468"/>
                  </a:lnTo>
                  <a:lnTo>
                    <a:pt x="0" y="292468"/>
                  </a:lnTo>
                  <a:moveTo>
                    <a:pt x="19050" y="292468"/>
                  </a:moveTo>
                  <a:lnTo>
                    <a:pt x="19050" y="4479964"/>
                  </a:lnTo>
                  <a:lnTo>
                    <a:pt x="9525" y="4479964"/>
                  </a:lnTo>
                  <a:lnTo>
                    <a:pt x="19050" y="4479964"/>
                  </a:lnTo>
                  <a:cubicBezTo>
                    <a:pt x="19050" y="4633757"/>
                    <a:pt x="188722" y="4758433"/>
                    <a:pt x="398145" y="4758433"/>
                  </a:cubicBezTo>
                  <a:lnTo>
                    <a:pt x="6668008" y="4758433"/>
                  </a:lnTo>
                  <a:cubicBezTo>
                    <a:pt x="6877431" y="4758433"/>
                    <a:pt x="7047102" y="4633757"/>
                    <a:pt x="7047102" y="4479964"/>
                  </a:cubicBezTo>
                  <a:lnTo>
                    <a:pt x="7047102" y="292468"/>
                  </a:lnTo>
                  <a:cubicBezTo>
                    <a:pt x="7047102" y="138675"/>
                    <a:pt x="6877431" y="13998"/>
                    <a:pt x="6668008" y="13998"/>
                  </a:cubicBezTo>
                  <a:lnTo>
                    <a:pt x="398145" y="13998"/>
                  </a:lnTo>
                  <a:lnTo>
                    <a:pt x="398145" y="6999"/>
                  </a:lnTo>
                  <a:lnTo>
                    <a:pt x="398145" y="13998"/>
                  </a:lnTo>
                  <a:cubicBezTo>
                    <a:pt x="188722" y="13998"/>
                    <a:pt x="19050" y="138675"/>
                    <a:pt x="19050" y="292468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4232" y="1571320"/>
            <a:ext cx="5285346" cy="71428"/>
            <a:chOff x="0" y="0"/>
            <a:chExt cx="7047128" cy="952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103" cy="95250"/>
            </a:xfrm>
            <a:custGeom>
              <a:avLst/>
              <a:gdLst/>
              <a:ahLst/>
              <a:cxnLst/>
              <a:rect r="r" b="b" t="t" l="l"/>
              <a:pathLst>
                <a:path h="95250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8772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9925" y="1828448"/>
            <a:ext cx="4713951" cy="399974"/>
            <a:chOff x="0" y="0"/>
            <a:chExt cx="6285268" cy="5332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85273" cy="533296"/>
            </a:xfrm>
            <a:custGeom>
              <a:avLst/>
              <a:gdLst/>
              <a:ahLst/>
              <a:cxnLst/>
              <a:rect r="r" b="b" t="t" l="l"/>
              <a:pathLst>
                <a:path h="533296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644" r="0" b="-17964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285268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 spc="224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SEGMENT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9925" y="2228412"/>
            <a:ext cx="4713951" cy="342833"/>
            <a:chOff x="0" y="0"/>
            <a:chExt cx="6285268" cy="457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85273" cy="457111"/>
            </a:xfrm>
            <a:custGeom>
              <a:avLst/>
              <a:gdLst/>
              <a:ahLst/>
              <a:cxnLst/>
              <a:rect r="r" b="b" t="t" l="l"/>
              <a:pathLst>
                <a:path h="45711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285268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 minutes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925" y="2656961"/>
            <a:ext cx="4713951" cy="457114"/>
            <a:chOff x="0" y="0"/>
            <a:chExt cx="6285268" cy="6094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85273" cy="609481"/>
            </a:xfrm>
            <a:custGeom>
              <a:avLst/>
              <a:gdLst/>
              <a:ahLst/>
              <a:cxnLst/>
              <a:rect r="r" b="b" t="t" l="l"/>
              <a:pathLst>
                <a:path h="60948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609481"/>
                  </a:lnTo>
                  <a:lnTo>
                    <a:pt x="0" y="609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938" r="0" b="-1509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285268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The Great Reshuffle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92402" y="1564176"/>
            <a:ext cx="5299624" cy="3469541"/>
            <a:chOff x="0" y="0"/>
            <a:chExt cx="7066166" cy="4626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525" y="6784"/>
              <a:ext cx="7047102" cy="4612486"/>
            </a:xfrm>
            <a:custGeom>
              <a:avLst/>
              <a:gdLst/>
              <a:ahLst/>
              <a:cxnLst/>
              <a:rect r="r" b="b" t="t" l="l"/>
              <a:pathLst>
                <a:path h="4612486" w="7047102">
                  <a:moveTo>
                    <a:pt x="0" y="276713"/>
                  </a:moveTo>
                  <a:cubicBezTo>
                    <a:pt x="0" y="123929"/>
                    <a:pt x="173990" y="0"/>
                    <a:pt x="388620" y="0"/>
                  </a:cubicBezTo>
                  <a:lnTo>
                    <a:pt x="6658483" y="0"/>
                  </a:lnTo>
                  <a:cubicBezTo>
                    <a:pt x="6873113" y="0"/>
                    <a:pt x="7047102" y="123929"/>
                    <a:pt x="7047102" y="276713"/>
                  </a:cubicBezTo>
                  <a:lnTo>
                    <a:pt x="7047102" y="4335774"/>
                  </a:lnTo>
                  <a:cubicBezTo>
                    <a:pt x="7047102" y="4488649"/>
                    <a:pt x="6873113" y="4612487"/>
                    <a:pt x="6658483" y="4612487"/>
                  </a:cubicBezTo>
                  <a:lnTo>
                    <a:pt x="388620" y="4612487"/>
                  </a:lnTo>
                  <a:cubicBezTo>
                    <a:pt x="173990" y="4612487"/>
                    <a:pt x="0" y="4488558"/>
                    <a:pt x="0" y="4335774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6152" cy="4626055"/>
            </a:xfrm>
            <a:custGeom>
              <a:avLst/>
              <a:gdLst/>
              <a:ahLst/>
              <a:cxnLst/>
              <a:rect r="r" b="b" t="t" l="l"/>
              <a:pathLst>
                <a:path h="4626055" w="7066152">
                  <a:moveTo>
                    <a:pt x="0" y="283497"/>
                  </a:moveTo>
                  <a:cubicBezTo>
                    <a:pt x="0" y="126913"/>
                    <a:pt x="178308" y="0"/>
                    <a:pt x="398145" y="0"/>
                  </a:cubicBezTo>
                  <a:lnTo>
                    <a:pt x="6668008" y="0"/>
                  </a:lnTo>
                  <a:lnTo>
                    <a:pt x="6668008" y="6784"/>
                  </a:lnTo>
                  <a:lnTo>
                    <a:pt x="6668008" y="0"/>
                  </a:lnTo>
                  <a:cubicBezTo>
                    <a:pt x="6887845" y="0"/>
                    <a:pt x="7066152" y="126913"/>
                    <a:pt x="7066152" y="283497"/>
                  </a:cubicBezTo>
                  <a:lnTo>
                    <a:pt x="7056627" y="283497"/>
                  </a:lnTo>
                  <a:lnTo>
                    <a:pt x="7066152" y="283497"/>
                  </a:lnTo>
                  <a:lnTo>
                    <a:pt x="7066152" y="4342558"/>
                  </a:lnTo>
                  <a:lnTo>
                    <a:pt x="7056627" y="4342558"/>
                  </a:lnTo>
                  <a:lnTo>
                    <a:pt x="7066152" y="4342558"/>
                  </a:lnTo>
                  <a:cubicBezTo>
                    <a:pt x="7066152" y="4499142"/>
                    <a:pt x="6887845" y="4626055"/>
                    <a:pt x="6668008" y="4626055"/>
                  </a:cubicBezTo>
                  <a:lnTo>
                    <a:pt x="6668008" y="4619271"/>
                  </a:lnTo>
                  <a:lnTo>
                    <a:pt x="6668008" y="4626055"/>
                  </a:lnTo>
                  <a:lnTo>
                    <a:pt x="398145" y="4626055"/>
                  </a:lnTo>
                  <a:lnTo>
                    <a:pt x="398145" y="4619271"/>
                  </a:lnTo>
                  <a:lnTo>
                    <a:pt x="398145" y="4626055"/>
                  </a:lnTo>
                  <a:cubicBezTo>
                    <a:pt x="178308" y="4626055"/>
                    <a:pt x="0" y="4499142"/>
                    <a:pt x="0" y="4342558"/>
                  </a:cubicBezTo>
                  <a:lnTo>
                    <a:pt x="0" y="283497"/>
                  </a:lnTo>
                  <a:lnTo>
                    <a:pt x="9525" y="283497"/>
                  </a:lnTo>
                  <a:lnTo>
                    <a:pt x="0" y="283497"/>
                  </a:lnTo>
                  <a:moveTo>
                    <a:pt x="19050" y="283497"/>
                  </a:moveTo>
                  <a:lnTo>
                    <a:pt x="19050" y="4342558"/>
                  </a:lnTo>
                  <a:lnTo>
                    <a:pt x="9525" y="4342558"/>
                  </a:lnTo>
                  <a:lnTo>
                    <a:pt x="19050" y="4342558"/>
                  </a:lnTo>
                  <a:cubicBezTo>
                    <a:pt x="19050" y="4491634"/>
                    <a:pt x="188722" y="4612486"/>
                    <a:pt x="398145" y="4612486"/>
                  </a:cubicBezTo>
                  <a:lnTo>
                    <a:pt x="6668008" y="4612486"/>
                  </a:lnTo>
                  <a:cubicBezTo>
                    <a:pt x="6877431" y="4612486"/>
                    <a:pt x="7047102" y="4491634"/>
                    <a:pt x="7047102" y="4342558"/>
                  </a:cubicBezTo>
                  <a:lnTo>
                    <a:pt x="7047102" y="283497"/>
                  </a:lnTo>
                  <a:cubicBezTo>
                    <a:pt x="7047102" y="134422"/>
                    <a:pt x="6877431" y="13569"/>
                    <a:pt x="6668008" y="13569"/>
                  </a:cubicBezTo>
                  <a:lnTo>
                    <a:pt x="398145" y="13569"/>
                  </a:lnTo>
                  <a:lnTo>
                    <a:pt x="398145" y="6784"/>
                  </a:lnTo>
                  <a:lnTo>
                    <a:pt x="398145" y="13569"/>
                  </a:lnTo>
                  <a:cubicBezTo>
                    <a:pt x="188722" y="13569"/>
                    <a:pt x="19050" y="134422"/>
                    <a:pt x="19050" y="283497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99546" y="1571320"/>
            <a:ext cx="5285346" cy="71428"/>
            <a:chOff x="0" y="0"/>
            <a:chExt cx="7047128" cy="952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7103" cy="95250"/>
            </a:xfrm>
            <a:custGeom>
              <a:avLst/>
              <a:gdLst/>
              <a:ahLst/>
              <a:cxnLst/>
              <a:rect r="r" b="b" t="t" l="l"/>
              <a:pathLst>
                <a:path h="95250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85239" y="1828448"/>
            <a:ext cx="4713951" cy="399974"/>
            <a:chOff x="0" y="0"/>
            <a:chExt cx="6285268" cy="5332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85273" cy="533296"/>
            </a:xfrm>
            <a:custGeom>
              <a:avLst/>
              <a:gdLst/>
              <a:ahLst/>
              <a:cxnLst/>
              <a:rect r="r" b="b" t="t" l="l"/>
              <a:pathLst>
                <a:path h="533296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644" r="0" b="-1796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285268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 spc="224">
                  <a:solidFill>
                    <a:srgbClr val="22C55E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SEGMENT 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85239" y="2228412"/>
            <a:ext cx="4713951" cy="342833"/>
            <a:chOff x="0" y="0"/>
            <a:chExt cx="6285268" cy="457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85273" cy="457111"/>
            </a:xfrm>
            <a:custGeom>
              <a:avLst/>
              <a:gdLst/>
              <a:ahLst/>
              <a:cxnLst/>
              <a:rect r="r" b="b" t="t" l="l"/>
              <a:pathLst>
                <a:path h="45711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285268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10 minutes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85239" y="2656961"/>
            <a:ext cx="4713951" cy="457114"/>
            <a:chOff x="0" y="0"/>
            <a:chExt cx="6285268" cy="6094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85273" cy="609481"/>
            </a:xfrm>
            <a:custGeom>
              <a:avLst/>
              <a:gdLst/>
              <a:ahLst/>
              <a:cxnLst/>
              <a:rect r="r" b="b" t="t" l="l"/>
              <a:pathLst>
                <a:path h="60948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609481"/>
                  </a:lnTo>
                  <a:lnTo>
                    <a:pt x="0" y="609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938" r="0" b="-15093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285268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The Reserved Seat Verdict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85239" y="3171187"/>
            <a:ext cx="3901068" cy="245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Opening line for anchor:</a:t>
            </a:r>
          </a:p>
          <a:p>
            <a:pPr algn="l">
              <a:lnSpc>
                <a:spcPts val="2323"/>
              </a:lnSpc>
            </a:pPr>
            <a:r>
              <a:rPr lang="en-US" sz="1210" i="true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"Did reserved seats tell a different story? The data says no — by 0.8 points."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Lead visual: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SC seat shift bar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Drill-down: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TVK win rate comparison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Key number: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10" b="true">
                <a:solidFill>
                  <a:srgbClr val="22C55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52.3% vs 44.7%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277706" y="1564176"/>
            <a:ext cx="5299624" cy="3469541"/>
            <a:chOff x="0" y="0"/>
            <a:chExt cx="7066166" cy="46260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9525" y="6784"/>
              <a:ext cx="7047102" cy="4612486"/>
            </a:xfrm>
            <a:custGeom>
              <a:avLst/>
              <a:gdLst/>
              <a:ahLst/>
              <a:cxnLst/>
              <a:rect r="r" b="b" t="t" l="l"/>
              <a:pathLst>
                <a:path h="4612486" w="7047102">
                  <a:moveTo>
                    <a:pt x="0" y="276713"/>
                  </a:moveTo>
                  <a:cubicBezTo>
                    <a:pt x="0" y="123929"/>
                    <a:pt x="173990" y="0"/>
                    <a:pt x="388620" y="0"/>
                  </a:cubicBezTo>
                  <a:lnTo>
                    <a:pt x="6658483" y="0"/>
                  </a:lnTo>
                  <a:cubicBezTo>
                    <a:pt x="6873113" y="0"/>
                    <a:pt x="7047102" y="123929"/>
                    <a:pt x="7047102" y="276713"/>
                  </a:cubicBezTo>
                  <a:lnTo>
                    <a:pt x="7047102" y="4335774"/>
                  </a:lnTo>
                  <a:cubicBezTo>
                    <a:pt x="7047102" y="4488649"/>
                    <a:pt x="6873113" y="4612487"/>
                    <a:pt x="6658483" y="4612487"/>
                  </a:cubicBezTo>
                  <a:lnTo>
                    <a:pt x="388620" y="4612487"/>
                  </a:lnTo>
                  <a:cubicBezTo>
                    <a:pt x="173990" y="4612487"/>
                    <a:pt x="0" y="4488558"/>
                    <a:pt x="0" y="4335774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66152" cy="4626055"/>
            </a:xfrm>
            <a:custGeom>
              <a:avLst/>
              <a:gdLst/>
              <a:ahLst/>
              <a:cxnLst/>
              <a:rect r="r" b="b" t="t" l="l"/>
              <a:pathLst>
                <a:path h="4626055" w="7066152">
                  <a:moveTo>
                    <a:pt x="0" y="283497"/>
                  </a:moveTo>
                  <a:cubicBezTo>
                    <a:pt x="0" y="126913"/>
                    <a:pt x="178308" y="0"/>
                    <a:pt x="398145" y="0"/>
                  </a:cubicBezTo>
                  <a:lnTo>
                    <a:pt x="6668008" y="0"/>
                  </a:lnTo>
                  <a:lnTo>
                    <a:pt x="6668008" y="6784"/>
                  </a:lnTo>
                  <a:lnTo>
                    <a:pt x="6668008" y="0"/>
                  </a:lnTo>
                  <a:cubicBezTo>
                    <a:pt x="6887845" y="0"/>
                    <a:pt x="7066152" y="126913"/>
                    <a:pt x="7066152" y="283497"/>
                  </a:cubicBezTo>
                  <a:lnTo>
                    <a:pt x="7056627" y="283497"/>
                  </a:lnTo>
                  <a:lnTo>
                    <a:pt x="7066152" y="283497"/>
                  </a:lnTo>
                  <a:lnTo>
                    <a:pt x="7066152" y="4342558"/>
                  </a:lnTo>
                  <a:lnTo>
                    <a:pt x="7056627" y="4342558"/>
                  </a:lnTo>
                  <a:lnTo>
                    <a:pt x="7066152" y="4342558"/>
                  </a:lnTo>
                  <a:cubicBezTo>
                    <a:pt x="7066152" y="4499142"/>
                    <a:pt x="6887845" y="4626055"/>
                    <a:pt x="6668008" y="4626055"/>
                  </a:cubicBezTo>
                  <a:lnTo>
                    <a:pt x="6668008" y="4619271"/>
                  </a:lnTo>
                  <a:lnTo>
                    <a:pt x="6668008" y="4626055"/>
                  </a:lnTo>
                  <a:lnTo>
                    <a:pt x="398145" y="4626055"/>
                  </a:lnTo>
                  <a:lnTo>
                    <a:pt x="398145" y="4619271"/>
                  </a:lnTo>
                  <a:lnTo>
                    <a:pt x="398145" y="4626055"/>
                  </a:lnTo>
                  <a:cubicBezTo>
                    <a:pt x="178308" y="4626055"/>
                    <a:pt x="0" y="4499142"/>
                    <a:pt x="0" y="4342558"/>
                  </a:cubicBezTo>
                  <a:lnTo>
                    <a:pt x="0" y="283497"/>
                  </a:lnTo>
                  <a:lnTo>
                    <a:pt x="9525" y="283497"/>
                  </a:lnTo>
                  <a:lnTo>
                    <a:pt x="0" y="283497"/>
                  </a:lnTo>
                  <a:moveTo>
                    <a:pt x="19050" y="283497"/>
                  </a:moveTo>
                  <a:lnTo>
                    <a:pt x="19050" y="4342558"/>
                  </a:lnTo>
                  <a:lnTo>
                    <a:pt x="9525" y="4342558"/>
                  </a:lnTo>
                  <a:lnTo>
                    <a:pt x="19050" y="4342558"/>
                  </a:lnTo>
                  <a:cubicBezTo>
                    <a:pt x="19050" y="4491634"/>
                    <a:pt x="188722" y="4612486"/>
                    <a:pt x="398145" y="4612486"/>
                  </a:cubicBezTo>
                  <a:lnTo>
                    <a:pt x="6668008" y="4612486"/>
                  </a:lnTo>
                  <a:cubicBezTo>
                    <a:pt x="6877431" y="4612486"/>
                    <a:pt x="7047102" y="4491634"/>
                    <a:pt x="7047102" y="4342558"/>
                  </a:cubicBezTo>
                  <a:lnTo>
                    <a:pt x="7047102" y="283497"/>
                  </a:lnTo>
                  <a:cubicBezTo>
                    <a:pt x="7047102" y="134422"/>
                    <a:pt x="6877431" y="13569"/>
                    <a:pt x="6668008" y="13569"/>
                  </a:cubicBezTo>
                  <a:lnTo>
                    <a:pt x="398145" y="13569"/>
                  </a:lnTo>
                  <a:lnTo>
                    <a:pt x="398145" y="6784"/>
                  </a:lnTo>
                  <a:lnTo>
                    <a:pt x="398145" y="13569"/>
                  </a:lnTo>
                  <a:cubicBezTo>
                    <a:pt x="188722" y="13569"/>
                    <a:pt x="19050" y="134422"/>
                    <a:pt x="19050" y="283497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84850" y="1571320"/>
            <a:ext cx="5285346" cy="71428"/>
            <a:chOff x="0" y="0"/>
            <a:chExt cx="7047128" cy="952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7103" cy="95250"/>
            </a:xfrm>
            <a:custGeom>
              <a:avLst/>
              <a:gdLst/>
              <a:ahLst/>
              <a:cxnLst/>
              <a:rect r="r" b="b" t="t" l="l"/>
              <a:pathLst>
                <a:path h="95250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70543" y="1828448"/>
            <a:ext cx="4713951" cy="399974"/>
            <a:chOff x="0" y="0"/>
            <a:chExt cx="6285268" cy="5332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85273" cy="533296"/>
            </a:xfrm>
            <a:custGeom>
              <a:avLst/>
              <a:gdLst/>
              <a:ahLst/>
              <a:cxnLst/>
              <a:rect r="r" b="b" t="t" l="l"/>
              <a:pathLst>
                <a:path h="533296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644" r="0" b="-17964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285268" cy="542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4"/>
                </a:lnSpc>
              </a:pPr>
              <a:r>
                <a:rPr lang="en-US" sz="1462" spc="224">
                  <a:solidFill>
                    <a:srgbClr val="A855F7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SEGMENT 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70543" y="2228412"/>
            <a:ext cx="4713951" cy="342833"/>
            <a:chOff x="0" y="0"/>
            <a:chExt cx="6285268" cy="457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85273" cy="457111"/>
            </a:xfrm>
            <a:custGeom>
              <a:avLst/>
              <a:gdLst/>
              <a:ahLst/>
              <a:cxnLst/>
              <a:rect r="r" b="b" t="t" l="l"/>
              <a:pathLst>
                <a:path h="45711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285268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15 minutes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70543" y="2656961"/>
            <a:ext cx="4713951" cy="457114"/>
            <a:chOff x="0" y="0"/>
            <a:chExt cx="6285268" cy="60948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85273" cy="609481"/>
            </a:xfrm>
            <a:custGeom>
              <a:avLst/>
              <a:gdLst/>
              <a:ahLst/>
              <a:cxnLst/>
              <a:rect r="r" b="b" t="t" l="l"/>
              <a:pathLst>
                <a:path h="609481" w="6285273">
                  <a:moveTo>
                    <a:pt x="0" y="0"/>
                  </a:moveTo>
                  <a:lnTo>
                    <a:pt x="6285273" y="0"/>
                  </a:lnTo>
                  <a:lnTo>
                    <a:pt x="6285273" y="609481"/>
                  </a:lnTo>
                  <a:lnTo>
                    <a:pt x="0" y="609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938" r="0" b="-15093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285268" cy="619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The Mandate Paradox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570543" y="3171187"/>
            <a:ext cx="3901068" cy="245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Opening line for anchor:</a:t>
            </a:r>
          </a:p>
          <a:p>
            <a:pPr algn="l">
              <a:lnSpc>
                <a:spcPts val="2323"/>
              </a:lnSpc>
            </a:pPr>
            <a:r>
              <a:rPr lang="en-US" sz="1210" i="true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"The winner won big in seats. But in 64 constituencies, most voters chose someone else."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Lead visual: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Distribution chart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Drill-down: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Tightest seats table</a:t>
            </a:r>
          </a:p>
          <a:p>
            <a:pPr algn="l">
              <a:lnSpc>
                <a:spcPts val="2323"/>
              </a:lnSpc>
            </a:pPr>
            <a:r>
              <a:rPr lang="en-US" sz="121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Key number:</a:t>
            </a:r>
            <a:r>
              <a:rPr lang="en-US" sz="1210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210" b="true">
                <a:solidFill>
                  <a:srgbClr val="A855F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 vote margin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279698" y="6183169"/>
            <a:ext cx="7740086" cy="1346669"/>
            <a:chOff x="0" y="0"/>
            <a:chExt cx="10320115" cy="179555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320113" cy="1795552"/>
            </a:xfrm>
            <a:custGeom>
              <a:avLst/>
              <a:gdLst/>
              <a:ahLst/>
              <a:cxnLst/>
              <a:rect r="r" b="b" t="t" l="l"/>
              <a:pathLst>
                <a:path h="1795552" w="10320113">
                  <a:moveTo>
                    <a:pt x="0" y="0"/>
                  </a:moveTo>
                  <a:lnTo>
                    <a:pt x="10320113" y="0"/>
                  </a:lnTo>
                  <a:lnTo>
                    <a:pt x="10320113" y="1795552"/>
                  </a:lnTo>
                  <a:lnTo>
                    <a:pt x="0" y="1795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92" r="-99319" b="-16565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23825"/>
              <a:ext cx="10320115" cy="1919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41"/>
                </a:lnSpc>
              </a:pPr>
              <a:r>
                <a:rPr lang="en-US" sz="1912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Recommended show opener: Tiruppattur — won by exactly 1 vote.</a:t>
              </a:r>
            </a:p>
            <a:p>
              <a:pPr algn="ctr">
                <a:lnSpc>
                  <a:spcPts val="2721"/>
                </a:lnSpc>
              </a:pPr>
              <a:r>
                <a:rPr lang="en-US" sz="1512">
                  <a:solidFill>
                    <a:srgbClr val="E8772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It is factual, specific, and immediately tells the audience this will not be a typical election show.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80488" y="5372100"/>
            <a:ext cx="9809873" cy="4609184"/>
            <a:chOff x="0" y="0"/>
            <a:chExt cx="2018492" cy="9483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18492" cy="948392"/>
            </a:xfrm>
            <a:custGeom>
              <a:avLst/>
              <a:gdLst/>
              <a:ahLst/>
              <a:cxnLst/>
              <a:rect r="r" b="b" t="t" l="l"/>
              <a:pathLst>
                <a:path h="948392" w="2018492">
                  <a:moveTo>
                    <a:pt x="15414" y="0"/>
                  </a:moveTo>
                  <a:lnTo>
                    <a:pt x="2003079" y="0"/>
                  </a:lnTo>
                  <a:cubicBezTo>
                    <a:pt x="2007167" y="0"/>
                    <a:pt x="2011087" y="1624"/>
                    <a:pt x="2013978" y="4515"/>
                  </a:cubicBezTo>
                  <a:cubicBezTo>
                    <a:pt x="2016869" y="7405"/>
                    <a:pt x="2018492" y="11326"/>
                    <a:pt x="2018492" y="15414"/>
                  </a:cubicBezTo>
                  <a:lnTo>
                    <a:pt x="2018492" y="932978"/>
                  </a:lnTo>
                  <a:cubicBezTo>
                    <a:pt x="2018492" y="941491"/>
                    <a:pt x="2011591" y="948392"/>
                    <a:pt x="2003079" y="948392"/>
                  </a:cubicBezTo>
                  <a:lnTo>
                    <a:pt x="15414" y="948392"/>
                  </a:lnTo>
                  <a:cubicBezTo>
                    <a:pt x="6901" y="948392"/>
                    <a:pt x="0" y="941491"/>
                    <a:pt x="0" y="932978"/>
                  </a:cubicBezTo>
                  <a:lnTo>
                    <a:pt x="0" y="15414"/>
                  </a:lnTo>
                  <a:cubicBezTo>
                    <a:pt x="0" y="6901"/>
                    <a:pt x="6901" y="0"/>
                    <a:pt x="15414" y="0"/>
                  </a:cubicBezTo>
                  <a:close/>
                </a:path>
              </a:pathLst>
            </a:custGeom>
            <a:solidFill>
              <a:srgbClr val="33415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018492" cy="94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99925" y="3161662"/>
            <a:ext cx="4228385" cy="187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311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Opening line for anchor:</a:t>
            </a:r>
          </a:p>
          <a:p>
            <a:pPr algn="l">
              <a:lnSpc>
                <a:spcPts val="2518"/>
              </a:lnSpc>
            </a:pPr>
            <a:r>
              <a:rPr lang="en-US" sz="1311" i="true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"163 of 234 seats changed hands. That is 70% of Tamil Nadu redrawn in a single day."</a:t>
            </a:r>
          </a:p>
          <a:p>
            <a:pPr algn="l">
              <a:lnSpc>
                <a:spcPts val="2518"/>
              </a:lnSpc>
            </a:pPr>
            <a:r>
              <a:rPr lang="en-US" sz="1311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Lead visual:</a:t>
            </a:r>
            <a:r>
              <a:rPr lang="en-US" sz="1311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Sankey diagram</a:t>
            </a:r>
          </a:p>
          <a:p>
            <a:pPr algn="l">
              <a:lnSpc>
                <a:spcPts val="2518"/>
              </a:lnSpc>
            </a:pPr>
            <a:r>
              <a:rPr lang="en-US" sz="1311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Drill-down:</a:t>
            </a:r>
            <a:r>
              <a:rPr lang="en-US" sz="1311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Regional flip rate bar</a:t>
            </a:r>
          </a:p>
          <a:p>
            <a:pPr algn="l">
              <a:lnSpc>
                <a:spcPts val="2518"/>
              </a:lnSpc>
            </a:pPr>
            <a:r>
              <a:rPr lang="en-US" sz="1311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Key number:</a:t>
            </a:r>
            <a:r>
              <a:rPr lang="en-US" sz="1311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311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69.7%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68083" y="5572125"/>
            <a:ext cx="9895645" cy="422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  <a:spcBef>
                <a:spcPct val="0"/>
              </a:spcBef>
            </a:pPr>
            <a:r>
              <a:rPr lang="en-US" b="true" sz="1661" strike="noStrike" u="non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EDITORIAL RECOMMENDATION FOR ATLIQ MEDIA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AtliQ's competitive advantage is what this show does NOT do.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 commentary. No predictions. No debates. Only ECI numbers.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Three data facts no other channel will present this way: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· 70% of Tamil Nadu changed hands — but Chennai Metro and Delta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 tell completely opposite stories within the same election.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· Reserved seats flipped at the same rate as general seats — a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 finding most analysts skip because they assume it is niche.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· 64 seats were won by a minority of voters — the mandate is more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 complex than the seat count suggests.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Every number on screen is verifiable from the public record.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Every chart can be filtered live during the broadcast using the</a:t>
            </a:r>
          </a:p>
          <a:p>
            <a:pPr algn="l" marL="0" indent="0" lvl="0">
              <a:lnSpc>
                <a:spcPts val="1752"/>
              </a:lnSpc>
              <a:spcBef>
                <a:spcPct val="0"/>
              </a:spcBef>
            </a:pPr>
            <a:r>
              <a:rPr lang="en-US" b="true" sz="1460" strike="noStrike" u="non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Power BI dashboard built for this analysis.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232" y="428539"/>
            <a:ext cx="12856235" cy="571386"/>
            <a:chOff x="0" y="0"/>
            <a:chExt cx="17141647" cy="761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761851"/>
            </a:xfrm>
            <a:custGeom>
              <a:avLst/>
              <a:gdLst/>
              <a:ahLst/>
              <a:cxnLst/>
              <a:rect r="r" b="b" t="t" l="l"/>
              <a:pathLst>
                <a:path h="761851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141647" cy="77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What the Data Can and Cannot Tell 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232" y="1028500"/>
            <a:ext cx="12856235" cy="314268"/>
            <a:chOff x="0" y="0"/>
            <a:chExt cx="17141647" cy="419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41653" cy="419018"/>
            </a:xfrm>
            <a:custGeom>
              <a:avLst/>
              <a:gdLst/>
              <a:ahLst/>
              <a:cxnLst/>
              <a:rect r="r" b="b" t="t" l="l"/>
              <a:pathLst>
                <a:path h="419018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419018"/>
                  </a:lnTo>
                  <a:lnTo>
                    <a:pt x="0" y="4190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114" r="0" b="-7471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141647" cy="419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Full transparency on sources, scope, and analytical boundaries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4232" y="1571320"/>
            <a:ext cx="7999438" cy="399974"/>
            <a:chOff x="0" y="0"/>
            <a:chExt cx="10665917" cy="533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5917" cy="533296"/>
            </a:xfrm>
            <a:custGeom>
              <a:avLst/>
              <a:gdLst/>
              <a:ahLst/>
              <a:cxnLst/>
              <a:rect r="r" b="b" t="t" l="l"/>
              <a:pathLst>
                <a:path h="533296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65917" cy="5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spc="22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WHAT WE USED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4232" y="2114140"/>
            <a:ext cx="7999438" cy="342833"/>
            <a:chOff x="0" y="0"/>
            <a:chExt cx="10665917" cy="457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65917" cy="457111"/>
            </a:xfrm>
            <a:custGeom>
              <a:avLst/>
              <a:gdLst/>
              <a:ahLst/>
              <a:cxnLst/>
              <a:rect r="r" b="b" t="t" l="l"/>
              <a:pathLst>
                <a:path h="457111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665917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DATA SOURCES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14232" y="2380755"/>
            <a:ext cx="7999438" cy="224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Election Commission of India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Candidate-level assembly results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tn_2021_results.csv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(4,232 rows)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tn_2026_results.csv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(4,257 rows)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8B95A5"/>
                </a:solidFill>
                <a:latin typeface="Quattrocento"/>
                <a:ea typeface="Quattrocento"/>
                <a:cs typeface="Quattrocento"/>
                <a:sym typeface="Quattrocento"/>
              </a:rPr>
              <a:t>constituency_master.csv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(234 rows)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4232" y="4742526"/>
            <a:ext cx="7999438" cy="342833"/>
            <a:chOff x="0" y="0"/>
            <a:chExt cx="10665917" cy="457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5917" cy="457111"/>
            </a:xfrm>
            <a:custGeom>
              <a:avLst/>
              <a:gdLst/>
              <a:ahLst/>
              <a:cxnLst/>
              <a:rect r="r" b="b" t="t" l="l"/>
              <a:pathLst>
                <a:path h="457111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665917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SCOPE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14232" y="5009150"/>
            <a:ext cx="7999438" cy="181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234 constituencies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6 regions across Tamil Nadu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3 seat categories: GEN · SC · ST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Candidate votes and winner margins only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4232" y="6942372"/>
            <a:ext cx="7999438" cy="342833"/>
            <a:chOff x="0" y="0"/>
            <a:chExt cx="10665917" cy="457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5917" cy="457111"/>
            </a:xfrm>
            <a:custGeom>
              <a:avLst/>
              <a:gdLst/>
              <a:ahLst/>
              <a:cxnLst/>
              <a:rect r="r" b="b" t="t" l="l"/>
              <a:pathLst>
                <a:path h="457111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665917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TOOLS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14232" y="7208987"/>
            <a:ext cx="7999438" cy="234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Python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pandas · plotly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　　　Data cleaning, Sankey, margin calc</a:t>
            </a:r>
          </a:p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Power BI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3-page interactive dashboard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　　　DAX measures, scatter, matrix</a:t>
            </a:r>
          </a:p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Canva</a:t>
            </a: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This pitch deck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18344" y="1571320"/>
            <a:ext cx="8142284" cy="399974"/>
            <a:chOff x="0" y="0"/>
            <a:chExt cx="10856379" cy="5332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56380" cy="533296"/>
            </a:xfrm>
            <a:custGeom>
              <a:avLst/>
              <a:gdLst/>
              <a:ahLst/>
              <a:cxnLst/>
              <a:rect r="r" b="b" t="t" l="l"/>
              <a:pathLst>
                <a:path h="533296" w="10856380">
                  <a:moveTo>
                    <a:pt x="0" y="0"/>
                  </a:moveTo>
                  <a:lnTo>
                    <a:pt x="10856380" y="0"/>
                  </a:lnTo>
                  <a:lnTo>
                    <a:pt x="10856380" y="533296"/>
                  </a:lnTo>
                  <a:lnTo>
                    <a:pt x="0" y="53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856379" cy="5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spc="224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WHAT WE COULD NOT USE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42144" y="2114140"/>
            <a:ext cx="8142284" cy="342833"/>
            <a:chOff x="0" y="0"/>
            <a:chExt cx="10856379" cy="457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6380" cy="457111"/>
            </a:xfrm>
            <a:custGeom>
              <a:avLst/>
              <a:gdLst/>
              <a:ahLst/>
              <a:cxnLst/>
              <a:rect r="r" b="b" t="t" l="l"/>
              <a:pathLst>
                <a:path h="457111" w="10856380">
                  <a:moveTo>
                    <a:pt x="0" y="0"/>
                  </a:moveTo>
                  <a:lnTo>
                    <a:pt x="10856380" y="0"/>
                  </a:lnTo>
                  <a:lnTo>
                    <a:pt x="10856380" y="457111"/>
                  </a:lnTo>
                  <a:lnTo>
                    <a:pt x="0" y="45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856379" cy="457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KNOWN LIMITATIONS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145716" y="2380755"/>
            <a:ext cx="8142284" cy="424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2026 turnout data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Not available from ECI at time of analysis. All margin figures use vote counts only.</a:t>
            </a:r>
          </a:p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 demographic data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No caste, religion, gender, or socioeconomic data was used at any point.</a:t>
            </a:r>
          </a:p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 causal claims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This analysis describes observable patterns in ECI data only. It makes no claim about why any result occurred.</a:t>
            </a:r>
          </a:p>
          <a:p>
            <a:pPr algn="l">
              <a:lnSpc>
                <a:spcPts val="3212"/>
              </a:lnSpc>
            </a:pPr>
            <a:r>
              <a:rPr lang="en-US" sz="1574" b="true">
                <a:solidFill>
                  <a:srgbClr val="E8772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 third-party sources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No exit polls, news articles, opinion surveys, or social media data was used or referenced.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421883" y="2125063"/>
            <a:ext cx="4740555" cy="350942"/>
            <a:chOff x="0" y="0"/>
            <a:chExt cx="5850293" cy="4330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0288" cy="433095"/>
            </a:xfrm>
            <a:custGeom>
              <a:avLst/>
              <a:gdLst/>
              <a:ahLst/>
              <a:cxnLst/>
              <a:rect r="r" b="b" t="t" l="l"/>
              <a:pathLst>
                <a:path h="433095" w="5850288">
                  <a:moveTo>
                    <a:pt x="0" y="0"/>
                  </a:moveTo>
                  <a:lnTo>
                    <a:pt x="5850288" y="0"/>
                  </a:lnTo>
                  <a:lnTo>
                    <a:pt x="5850288" y="433095"/>
                  </a:lnTo>
                  <a:lnTo>
                    <a:pt x="0" y="4330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433" r="0" b="-2159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850293" cy="433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4" b="true">
                  <a:solidFill>
                    <a:srgbClr val="E87722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REPRODUCIBILITY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440320" y="2380755"/>
            <a:ext cx="4722117" cy="156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Full Jupyter notebook on GitHub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All processed CSV files included in repo</a:t>
            </a:r>
          </a:p>
          <a:p>
            <a:pPr algn="l">
              <a:lnSpc>
                <a:spcPts val="3212"/>
              </a:lnSpc>
            </a:pPr>
            <a:r>
              <a:rPr lang="en-US" sz="15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Every number in this deck is traceable to a specific notebook cell output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9856451"/>
            <a:ext cx="18284428" cy="428539"/>
            <a:chOff x="0" y="0"/>
            <a:chExt cx="24379238" cy="5713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79301" cy="571373"/>
            </a:xfrm>
            <a:custGeom>
              <a:avLst/>
              <a:gdLst/>
              <a:ahLst/>
              <a:cxnLst/>
              <a:rect r="r" b="b" t="t" l="l"/>
              <a:pathLst>
                <a:path h="57137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0F172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4232" y="9885016"/>
            <a:ext cx="16855954" cy="371402"/>
            <a:chOff x="0" y="0"/>
            <a:chExt cx="22474606" cy="495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474611" cy="495208"/>
            </a:xfrm>
            <a:custGeom>
              <a:avLst/>
              <a:gdLst/>
              <a:ahLst/>
              <a:cxnLst/>
              <a:rect r="r" b="b" t="t" l="l"/>
              <a:pathLst>
                <a:path h="495208" w="22474611">
                  <a:moveTo>
                    <a:pt x="0" y="0"/>
                  </a:moveTo>
                  <a:lnTo>
                    <a:pt x="22474611" y="0"/>
                  </a:lnTo>
                  <a:lnTo>
                    <a:pt x="22474611" y="495208"/>
                  </a:lnTo>
                  <a:lnTo>
                    <a:pt x="0" y="495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4313" r="0" b="-8343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2474606" cy="495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84"/>
                </a:lnSpc>
              </a:pPr>
              <a:r>
                <a:rPr lang="en-US" sz="1237">
                  <a:solidFill>
                    <a:srgbClr val="8B95A5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Non-partisan analysis · Codebasics RPC May 2026 · Anshu Kunwar · anshukun777@gmail.com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DAHK1asUtyc</dc:identifier>
  <dcterms:modified xsi:type="dcterms:W3CDTF">2011-08-01T06:04:30Z</dcterms:modified>
  <cp:revision>1</cp:revision>
  <dc:title>Tamil_Nadu_2026_RPC_Anshu_Kunwar</dc:title>
</cp:coreProperties>
</file>